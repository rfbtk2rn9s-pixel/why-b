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9"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70"/>
  </p:normalViewPr>
  <p:slideViewPr>
    <p:cSldViewPr snapToGrid="0">
      <p:cViewPr varScale="1">
        <p:scale>
          <a:sx n="95" d="100"/>
          <a:sy n="95" d="100"/>
        </p:scale>
        <p:origin x="200"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600" b="1">
                <a:solidFill>
                  <a:srgbClr val="2F2F2F"/>
                </a:solidFill>
              </a:rPr>
              <a:t>ボランティアをしたことがある？（n=28）</a:t>
            </a:r>
          </a:p>
        </c:rich>
      </c:tx>
      <c:layout/>
      <c:overlay val="0"/>
    </c:title>
    <c:autoTitleDeleted val="0"/>
    <c:plotArea>
      <c:layout/>
      <c:doughnutChart>
        <c:varyColors/>
        <c:ser>
          <c:idx val="0"/>
          <c:order val="0"/>
          <c:tx>
            <c:strRef>
              <c:f>'集計'!$B$2</c:f>
              <c:strCache>
                <c:ptCount val="1"/>
                <c:pt idx="0">
                  <c:v>人数</c:v>
                </c:pt>
              </c:strCache>
            </c:strRef>
          </c:tx>
          <c:dPt>
            <c:idx val="0"/>
            <c:spPr>
              <a:solidFill>
                <a:srgbClr val="568A80"/>
              </a:solidFill>
            </c:spPr>
          </c:dPt>
          <c:dPt>
            <c:idx val="1"/>
            <c:spPr>
              <a:solidFill>
                <a:srgbClr val="DDD6CC"/>
              </a:solidFill>
            </c:spPr>
          </c:dPt>
          <c:cat>
            <c:strRef>
              <c:f>'集計'!$A$3:$A$4</c:f>
              <c:strCache>
                <c:ptCount val="2"/>
                <c:pt idx="0">
                  <c:v>ある</c:v>
                </c:pt>
                <c:pt idx="1">
                  <c:v>ない</c:v>
                </c:pt>
              </c:strCache>
            </c:strRef>
          </c:cat>
          <c:val>
            <c:numRef>
              <c:f>'集計'!$B$3:$B$4</c:f>
              <c:numCache>
                <c:formatCode>General</c:formatCode>
                <c:ptCount val="2"/>
                <c:pt idx="0">
                  <c:v>20</c:v>
                </c:pt>
                <c:pt idx="1">
                  <c:v>8</c:v>
                </c:pt>
              </c:numCache>
            </c:numRef>
          </c:val>
        </c:ser>
        <c:dLbls>
          <c:numFmt formatCode="0%" sourceLinked="0"/>
          <c:txPr>
            <a:bodyPr/>
            <a:lstStyle/>
            <a:p>
              <a:pPr>
                <a:defRPr sz="1600" b="1">
                  <a:solidFill>
                    <a:srgbClr val="2F2F2F"/>
                  </a:solidFill>
                </a:defRPr>
              </a:pPr>
            </a:p>
          </c:txPr>
          <c:showLegendKey val="0"/>
          <c:showVal val="0"/>
          <c:showCatName val="1"/>
          <c:showSerName val="0"/>
          <c:showPercent val="1"/>
          <c:showBubbleSize val="0"/>
          <c:showLeaderLines val="1"/>
        </c:dLbls>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2F2F2F"/>
                </a:solidFill>
              </a:rPr>
              <a:t>ボランティアに参加した理由（n=20）</a:t>
            </a:r>
          </a:p>
        </c:rich>
      </c:tx>
      <c:layout/>
      <c:overlay val="0"/>
    </c:title>
    <c:autoTitleDeleted val="0"/>
    <c:plotArea>
      <c:barChart>
        <c:barDir val="bar"/>
        <c:grouping val="clustered"/>
        <c:ser>
          <c:idx val="0"/>
          <c:order val="0"/>
          <c:tx>
            <c:strRef>
              <c:f>'集計'!$B$9</c:f>
              <c:strCache>
                <c:ptCount val="1"/>
                <c:pt idx="0">
                  <c:v>人数</c:v>
                </c:pt>
              </c:strCache>
            </c:strRef>
          </c:tx>
          <c:spPr>
            <a:solidFill>
              <a:srgbClr val="D0805C"/>
            </a:solidFill>
          </c:spPr>
          <c:cat>
            <c:strRef>
              <c:f>'集計'!$A$10:$A$15</c:f>
              <c:strCache>
                <c:ptCount val="6"/>
                <c:pt idx="0">
                  <c:v>部活動・チームで</c:v>
                </c:pt>
                <c:pt idx="1">
                  <c:v>自分の成長・将来</c:v>
                </c:pt>
                <c:pt idx="2">
                  <c:v>興味・関心</c:v>
                </c:pt>
                <c:pt idx="3">
                  <c:v>人の役に立ちたい</c:v>
                </c:pt>
                <c:pt idx="4">
                  <c:v>家族・友人の影響</c:v>
                </c:pt>
                <c:pt idx="5">
                  <c:v>その他</c:v>
                </c:pt>
              </c:strCache>
            </c:strRef>
          </c:cat>
          <c:val>
            <c:numRef>
              <c:f>'集計'!$B$10:$B$15</c:f>
              <c:numCache>
                <c:formatCode>General</c:formatCode>
                <c:ptCount val="6"/>
                <c:pt idx="0">
                  <c:v>5</c:v>
                </c:pt>
                <c:pt idx="1">
                  <c:v>5</c:v>
                </c:pt>
                <c:pt idx="2">
                  <c:v>5</c:v>
                </c:pt>
                <c:pt idx="3">
                  <c:v>2</c:v>
                </c:pt>
                <c:pt idx="4">
                  <c:v>2</c:v>
                </c:pt>
                <c:pt idx="5">
                  <c:v>1</c:v>
                </c:pt>
              </c:numCache>
            </c:numRef>
          </c:val>
        </c:ser>
        <c:dLbls>
          <c:txPr>
            <a:bodyPr/>
            <a:lstStyle/>
            <a:p>
              <a:pPr>
                <a:defRPr sz="1600" b="1">
                  <a:solidFill>
                    <a:srgbClr val="2F2F2F"/>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DD6CC"/>
            </a:solidFill>
          </a:ln>
        </c:spPr>
        <c:txPr>
          <a:bodyPr/>
          <a:lstStyle/>
          <a:p>
            <a:pPr>
              <a:defRPr sz="1400">
                <a:solidFill>
                  <a:srgbClr val="2F2F2F"/>
                </a:solidFill>
              </a:defRPr>
            </a:pPr>
          </a:p>
        </c:txPr>
        <c:crossAx val="-2113994440"/>
        <c:crosses val="autoZero"/>
        <c:auto val="1"/>
        <c:lblAlgn val="ctr"/>
        <c:lblOffset val="100"/>
        <c:noMultiLvlLbl val="0"/>
      </c:catAx>
      <c:valAx>
        <c:axId val="-2113994440"/>
        <c:scaling>
          <c:max val="6.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ンケート結果①です。クラスの28人に「ボランティアをしたことがあるか」を聞きました。その結果、「ある」と答えた人は20人で、全体の約71パーセントでした。およそ10人に7人がボランティアを経験していることになります。思っていたよりも多くの人が、すでにボランティアに参加したことがあると分かりました。では、なぜボランティアに参加したのでしょうか。その理由はアンケート結果②で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ンケート結果②です。ボランティアをしたことがある20人に、参加した理由を自由に書いてもらい、内容ごとに6つに分けて集計しました。いちばん多かったのは「部活動やチームで参加した」「自分の成長や将来のため」「興味・関心があった」の3つで、それぞれ5人ずつでした。例えば「部活動で参加するよう言われた」「履歴書に書けるから」「アジア大会が身近な名古屋で開かれたから」といった回答がありました。一方で、「人の役に立ちたい」という理由は2人だけでした。つまり、無償のボランティアでも、きっかけは周りの人や自分のためという人が多いことが分かりました。このあと、なぜ無償でボランティアをするのかについて考えていき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ja-JP" altLang="en-US"/>
              <a:t>マスター タイトルの書式設定</a:t>
            </a:r>
            <a:endParaRPr lang="en-US"/>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kumimoji="1" lang="ja-JP" alt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489560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728062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ja-JP" altLang="en-US"/>
              <a:t>マスター タイトルの書式設定</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kumimoji="1" lang="ja-JP" alt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19740935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ja-JP" altLang="en-US"/>
              <a:t>マスター タイトルの書式設定</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kumimoji="1" lang="ja-JP" alt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194984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322197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ja-JP" altLang="en-US"/>
              <a:t>マスター タイトルの書式設定</a:t>
            </a:r>
            <a:endParaRPr lang="en-US"/>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kumimoji="1" lang="ja-JP" altLang="en-US"/>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04500945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セクション見出し">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kumimoji="1" lang="ja-JP" alt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646186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9307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325953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F4B40AA9-2F39-2544-B80B-98D629514C07}" type="datetimeFigureOut">
              <a:rPr kumimoji="1" lang="ja-JP" altLang="en-US" smtClean="0"/>
              <a:t>2026/10/21</a:t>
            </a:fld>
            <a:endParaRPr kumimoji="1" lang="ja-JP" alt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7030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24618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ja-JP" altLang="en-US"/>
              <a:t>マスター タイトルの書式設定</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976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868759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56D27AA-6F05-6840-8FC3-35126EA41C8D}" type="slidenum">
              <a:rPr kumimoji="1" lang="ja-JP" altLang="en-US" smtClean="0"/>
              <a:t>‹#›</a:t>
            </a:fld>
            <a:endParaRPr kumimoji="1" lang="ja-JP" alt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380602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56D27AA-6F05-6840-8FC3-35126EA41C8D}" type="slidenum">
              <a:rPr kumimoji="1" lang="ja-JP" altLang="en-US" smtClean="0"/>
              <a:t>‹#›</a:t>
            </a:fld>
            <a:endParaRPr kumimoji="1" lang="ja-JP" alt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53897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456D27AA-6F05-6840-8FC3-35126EA41C8D}" type="slidenum">
              <a:rPr kumimoji="1" lang="ja-JP" altLang="en-US" smtClean="0"/>
              <a:t>‹#›</a:t>
            </a:fld>
            <a:endParaRPr kumimoji="1" lang="ja-JP" alt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204960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ja-JP" altLang="en-US"/>
              <a:t>マスター タイトルの書式設定</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3514840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ja-JP" altLang="en-US"/>
              <a:t>マスター タイトルの書式設定</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55036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ja-JP" altLang="en-US"/>
              <a:t>マスター タイトルの書式設定</a:t>
            </a:r>
            <a:endParaRPr lang="en-US"/>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202155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456D27AA-6F05-6840-8FC3-35126EA41C8D}" type="slidenum">
              <a:rPr kumimoji="1" lang="ja-JP" altLang="en-US" smtClean="0"/>
              <a:t>‹#›</a:t>
            </a:fld>
            <a:endParaRPr kumimoji="1" lang="ja-JP" alt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969325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26567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kumimoji="1" lang="ja-JP" alt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479272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kumimoji="1" lang="ja-JP" alt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37168165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ja-JP" altLang="en-US"/>
              <a:t>マスター タイトルの書式設定</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kumimoji="1" lang="ja-JP" alt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3915303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kumimoji="1" lang="ja-JP" alt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197246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05746406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37474518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95426374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Lst>
  <p:txStyles>
    <p:titleStyle>
      <a:lvl1pPr algn="l" defTabSz="914400" rtl="0" eaLnBrk="1" latinLnBrk="0" hangingPunct="1">
        <a:lnSpc>
          <a:spcPct val="55000"/>
        </a:lnSpc>
        <a:spcBef>
          <a:spcPct val="0"/>
        </a:spcBef>
        <a:buNone/>
        <a:defRPr kumimoji="1"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kumimoji="1"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369037-CD9A-07A2-316B-3042CD21A390}"/>
              </a:ext>
            </a:extLst>
          </p:cNvPr>
          <p:cNvSpPr>
            <a:spLocks noGrp="1"/>
          </p:cNvSpPr>
          <p:nvPr>
            <p:ph type="title"/>
          </p:nvPr>
        </p:nvSpPr>
        <p:spPr/>
        <p:txBody>
          <a:bodyPr/>
          <a:lstStyle/>
          <a:p>
            <a:r>
              <a:t>アンケート結果①　7割が経験あり</a:t>
            </a:r>
          </a:p>
        </p:txBody>
      </p:sp>
      <p:graphicFrame>
        <p:nvGraphicFramePr>
          <p:cNvPr id="3" name="Chart 2"/>
          <p:cNvGraphicFramePr>
            <a:graphicFrameLocks noGrp="1"/>
          </p:cNvGraphicFramePr>
          <p:nvPr/>
        </p:nvGraphicFramePr>
        <p:xfrm>
          <a:off x="704088" y="1554480"/>
          <a:ext cx="5486400" cy="4389120"/>
        </p:xfrm>
        <a:graphic>
          <a:graphicData uri="http://schemas.openxmlformats.org/drawingml/2006/chart">
            <c:chart xmlns:c="http://schemas.openxmlformats.org/drawingml/2006/chart" r:id="rId2"/>
          </a:graphicData>
        </a:graphic>
      </p:graphicFrame>
      <p:sp>
        <p:nvSpPr>
          <p:cNvPr id="4" name="TextBox 3"/>
          <p:cNvSpPr txBox="1"/>
          <p:nvPr/>
        </p:nvSpPr>
        <p:spPr>
          <a:xfrm>
            <a:off x="6858000" y="1737360"/>
            <a:ext cx="4572000" cy="1280160"/>
          </a:xfrm>
          <a:prstGeom prst="rect">
            <a:avLst/>
          </a:prstGeom>
          <a:noFill/>
        </p:spPr>
        <p:txBody>
          <a:bodyPr wrap="square" anchor="t" lIns="0" rIns="0" tIns="0" bIns="0">
            <a:spAutoFit/>
          </a:bodyPr>
          <a:lstStyle/>
          <a:p>
            <a:pPr algn="l"/>
            <a:r>
              <a:rPr sz="9600" b="1">
                <a:solidFill>
                  <a:srgbClr val="568A80"/>
                </a:solidFill>
              </a:rPr>
              <a:t>71%</a:t>
            </a:r>
          </a:p>
        </p:txBody>
      </p:sp>
      <p:sp>
        <p:nvSpPr>
          <p:cNvPr id="5" name="TextBox 4"/>
          <p:cNvSpPr txBox="1"/>
          <p:nvPr/>
        </p:nvSpPr>
        <p:spPr>
          <a:xfrm>
            <a:off x="6858000" y="3154680"/>
            <a:ext cx="4572000" cy="457200"/>
          </a:xfrm>
          <a:prstGeom prst="rect">
            <a:avLst/>
          </a:prstGeom>
          <a:noFill/>
        </p:spPr>
        <p:txBody>
          <a:bodyPr wrap="square" anchor="t" lIns="0" rIns="0" tIns="0" bIns="0">
            <a:spAutoFit/>
          </a:bodyPr>
          <a:lstStyle/>
          <a:p>
            <a:pPr algn="l"/>
            <a:r>
              <a:rPr sz="2200" b="1">
                <a:solidFill>
                  <a:srgbClr val="2F2F2F"/>
                </a:solidFill>
              </a:rPr>
              <a:t>ボランティア経験が「ある」</a:t>
            </a:r>
          </a:p>
        </p:txBody>
      </p:sp>
      <p:pic>
        <p:nvPicPr>
          <p:cNvPr id="6" name="Picture 5" descr="ic_user_on.png"/>
          <p:cNvPicPr>
            <a:picLocks noChangeAspect="1"/>
          </p:cNvPicPr>
          <p:nvPr/>
        </p:nvPicPr>
        <p:blipFill>
          <a:blip r:embed="rId3"/>
          <a:stretch>
            <a:fillRect/>
          </a:stretch>
        </p:blipFill>
        <p:spPr>
          <a:xfrm>
            <a:off x="6858000" y="3931920"/>
            <a:ext cx="384048" cy="384048"/>
          </a:xfrm>
          <a:prstGeom prst="rect">
            <a:avLst/>
          </a:prstGeom>
        </p:spPr>
      </p:pic>
      <p:pic>
        <p:nvPicPr>
          <p:cNvPr id="7" name="Picture 6" descr="ic_user_on.png"/>
          <p:cNvPicPr>
            <a:picLocks noChangeAspect="1"/>
          </p:cNvPicPr>
          <p:nvPr/>
        </p:nvPicPr>
        <p:blipFill>
          <a:blip r:embed="rId3"/>
          <a:stretch>
            <a:fillRect/>
          </a:stretch>
        </p:blipFill>
        <p:spPr>
          <a:xfrm>
            <a:off x="7315200" y="3931920"/>
            <a:ext cx="384048" cy="384048"/>
          </a:xfrm>
          <a:prstGeom prst="rect">
            <a:avLst/>
          </a:prstGeom>
        </p:spPr>
      </p:pic>
      <p:pic>
        <p:nvPicPr>
          <p:cNvPr id="8" name="Picture 7" descr="ic_user_on.png"/>
          <p:cNvPicPr>
            <a:picLocks noChangeAspect="1"/>
          </p:cNvPicPr>
          <p:nvPr/>
        </p:nvPicPr>
        <p:blipFill>
          <a:blip r:embed="rId3"/>
          <a:stretch>
            <a:fillRect/>
          </a:stretch>
        </p:blipFill>
        <p:spPr>
          <a:xfrm>
            <a:off x="7772400" y="3931920"/>
            <a:ext cx="384048" cy="384048"/>
          </a:xfrm>
          <a:prstGeom prst="rect">
            <a:avLst/>
          </a:prstGeom>
        </p:spPr>
      </p:pic>
      <p:pic>
        <p:nvPicPr>
          <p:cNvPr id="9" name="Picture 8" descr="ic_user_on.png"/>
          <p:cNvPicPr>
            <a:picLocks noChangeAspect="1"/>
          </p:cNvPicPr>
          <p:nvPr/>
        </p:nvPicPr>
        <p:blipFill>
          <a:blip r:embed="rId3"/>
          <a:stretch>
            <a:fillRect/>
          </a:stretch>
        </p:blipFill>
        <p:spPr>
          <a:xfrm>
            <a:off x="8229600" y="3931920"/>
            <a:ext cx="384048" cy="384048"/>
          </a:xfrm>
          <a:prstGeom prst="rect">
            <a:avLst/>
          </a:prstGeom>
        </p:spPr>
      </p:pic>
      <p:pic>
        <p:nvPicPr>
          <p:cNvPr id="10" name="Picture 9" descr="ic_user_on.png"/>
          <p:cNvPicPr>
            <a:picLocks noChangeAspect="1"/>
          </p:cNvPicPr>
          <p:nvPr/>
        </p:nvPicPr>
        <p:blipFill>
          <a:blip r:embed="rId3"/>
          <a:stretch>
            <a:fillRect/>
          </a:stretch>
        </p:blipFill>
        <p:spPr>
          <a:xfrm>
            <a:off x="8686800" y="3931920"/>
            <a:ext cx="384048" cy="384048"/>
          </a:xfrm>
          <a:prstGeom prst="rect">
            <a:avLst/>
          </a:prstGeom>
        </p:spPr>
      </p:pic>
      <p:pic>
        <p:nvPicPr>
          <p:cNvPr id="11" name="Picture 10" descr="ic_user_on.png"/>
          <p:cNvPicPr>
            <a:picLocks noChangeAspect="1"/>
          </p:cNvPicPr>
          <p:nvPr/>
        </p:nvPicPr>
        <p:blipFill>
          <a:blip r:embed="rId3"/>
          <a:stretch>
            <a:fillRect/>
          </a:stretch>
        </p:blipFill>
        <p:spPr>
          <a:xfrm>
            <a:off x="9144000" y="3931920"/>
            <a:ext cx="384048" cy="384048"/>
          </a:xfrm>
          <a:prstGeom prst="rect">
            <a:avLst/>
          </a:prstGeom>
        </p:spPr>
      </p:pic>
      <p:pic>
        <p:nvPicPr>
          <p:cNvPr id="12" name="Picture 11" descr="ic_user_on.png"/>
          <p:cNvPicPr>
            <a:picLocks noChangeAspect="1"/>
          </p:cNvPicPr>
          <p:nvPr/>
        </p:nvPicPr>
        <p:blipFill>
          <a:blip r:embed="rId3"/>
          <a:stretch>
            <a:fillRect/>
          </a:stretch>
        </p:blipFill>
        <p:spPr>
          <a:xfrm>
            <a:off x="9601200" y="3931920"/>
            <a:ext cx="384048" cy="384048"/>
          </a:xfrm>
          <a:prstGeom prst="rect">
            <a:avLst/>
          </a:prstGeom>
        </p:spPr>
      </p:pic>
      <p:pic>
        <p:nvPicPr>
          <p:cNvPr id="13" name="Picture 12" descr="ic_user_off.png"/>
          <p:cNvPicPr>
            <a:picLocks noChangeAspect="1"/>
          </p:cNvPicPr>
          <p:nvPr/>
        </p:nvPicPr>
        <p:blipFill>
          <a:blip r:embed="rId4"/>
          <a:stretch>
            <a:fillRect/>
          </a:stretch>
        </p:blipFill>
        <p:spPr>
          <a:xfrm>
            <a:off x="10058400" y="3931920"/>
            <a:ext cx="384048" cy="384048"/>
          </a:xfrm>
          <a:prstGeom prst="rect">
            <a:avLst/>
          </a:prstGeom>
        </p:spPr>
      </p:pic>
      <p:pic>
        <p:nvPicPr>
          <p:cNvPr id="14" name="Picture 13" descr="ic_user_off.png"/>
          <p:cNvPicPr>
            <a:picLocks noChangeAspect="1"/>
          </p:cNvPicPr>
          <p:nvPr/>
        </p:nvPicPr>
        <p:blipFill>
          <a:blip r:embed="rId4"/>
          <a:stretch>
            <a:fillRect/>
          </a:stretch>
        </p:blipFill>
        <p:spPr>
          <a:xfrm>
            <a:off x="10515600" y="3931920"/>
            <a:ext cx="384048" cy="384048"/>
          </a:xfrm>
          <a:prstGeom prst="rect">
            <a:avLst/>
          </a:prstGeom>
        </p:spPr>
      </p:pic>
      <p:pic>
        <p:nvPicPr>
          <p:cNvPr id="15" name="Picture 14" descr="ic_user_off.png"/>
          <p:cNvPicPr>
            <a:picLocks noChangeAspect="1"/>
          </p:cNvPicPr>
          <p:nvPr/>
        </p:nvPicPr>
        <p:blipFill>
          <a:blip r:embed="rId4"/>
          <a:stretch>
            <a:fillRect/>
          </a:stretch>
        </p:blipFill>
        <p:spPr>
          <a:xfrm>
            <a:off x="10972800" y="3931920"/>
            <a:ext cx="384048" cy="384048"/>
          </a:xfrm>
          <a:prstGeom prst="rect">
            <a:avLst/>
          </a:prstGeom>
        </p:spPr>
      </p:pic>
      <p:sp>
        <p:nvSpPr>
          <p:cNvPr id="16" name="TextBox 15"/>
          <p:cNvSpPr txBox="1"/>
          <p:nvPr/>
        </p:nvSpPr>
        <p:spPr>
          <a:xfrm>
            <a:off x="6858000" y="4572000"/>
            <a:ext cx="4572000" cy="365760"/>
          </a:xfrm>
          <a:prstGeom prst="rect">
            <a:avLst/>
          </a:prstGeom>
          <a:noFill/>
        </p:spPr>
        <p:txBody>
          <a:bodyPr wrap="square" anchor="t" lIns="0" rIns="0" tIns="0" bIns="0">
            <a:spAutoFit/>
          </a:bodyPr>
          <a:lstStyle/>
          <a:p>
            <a:pPr algn="l"/>
            <a:r>
              <a:rPr sz="1800" b="0">
                <a:solidFill>
                  <a:srgbClr val="7A746C"/>
                </a:solidFill>
              </a:rPr>
              <a:t>28人中 20人 ＝ 約10人に7人</a:t>
            </a:r>
          </a:p>
        </p:txBody>
      </p:sp>
      <p:sp>
        <p:nvSpPr>
          <p:cNvPr id="17" name="TextBox 16"/>
          <p:cNvSpPr txBox="1"/>
          <p:nvPr/>
        </p:nvSpPr>
        <p:spPr>
          <a:xfrm>
            <a:off x="704088" y="5989320"/>
            <a:ext cx="7315200" cy="274320"/>
          </a:xfrm>
          <a:prstGeom prst="rect">
            <a:avLst/>
          </a:prstGeom>
          <a:noFill/>
        </p:spPr>
        <p:txBody>
          <a:bodyPr wrap="square" anchor="t" lIns="0" rIns="0" tIns="0" bIns="0">
            <a:spAutoFit/>
          </a:bodyPr>
          <a:lstStyle/>
          <a:p>
            <a:pPr algn="l"/>
            <a:r>
              <a:rPr sz="1000" b="0">
                <a:solidFill>
                  <a:srgbClr val="7A746C"/>
                </a:solidFill>
              </a:rPr>
              <a:t>出典：アンケート結果（2026年10月21日実施）をもとに作成者がExcelで作成</a:t>
            </a:r>
          </a:p>
        </p:txBody>
      </p:sp>
    </p:spTree>
    <p:extLst>
      <p:ext uri="{BB962C8B-B14F-4D97-AF65-F5344CB8AC3E}">
        <p14:creationId xmlns:p14="http://schemas.microsoft.com/office/powerpoint/2010/main" val="297203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285D5-A231-266B-0FAD-3DA1E4FF6E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272167-DCCE-D247-73F2-7E8347464C4A}"/>
              </a:ext>
            </a:extLst>
          </p:cNvPr>
          <p:cNvSpPr>
            <a:spLocks noGrp="1"/>
          </p:cNvSpPr>
          <p:nvPr>
            <p:ph type="title"/>
          </p:nvPr>
        </p:nvSpPr>
        <p:spPr/>
        <p:txBody>
          <a:bodyPr/>
          <a:lstStyle/>
          <a:p>
            <a:r>
              <a:t>アンケート結果②　参加のきっかけ</a:t>
            </a:r>
          </a:p>
        </p:txBody>
      </p:sp>
      <p:graphicFrame>
        <p:nvGraphicFramePr>
          <p:cNvPr id="3" name="Chart 2"/>
          <p:cNvGraphicFramePr>
            <a:graphicFrameLocks noGrp="1"/>
          </p:cNvGraphicFramePr>
          <p:nvPr/>
        </p:nvGraphicFramePr>
        <p:xfrm>
          <a:off x="704088" y="1554480"/>
          <a:ext cx="6583680" cy="4389120"/>
        </p:xfrm>
        <a:graphic>
          <a:graphicData uri="http://schemas.openxmlformats.org/drawingml/2006/chart">
            <c:chart xmlns:c="http://schemas.openxmlformats.org/drawingml/2006/chart" r:id="rId2"/>
          </a:graphicData>
        </a:graphic>
      </p:graphicFrame>
      <p:sp>
        <p:nvSpPr>
          <p:cNvPr id="4" name="TextBox 3"/>
          <p:cNvSpPr txBox="1"/>
          <p:nvPr/>
        </p:nvSpPr>
        <p:spPr>
          <a:xfrm>
            <a:off x="7772400" y="1645920"/>
            <a:ext cx="3840480" cy="457200"/>
          </a:xfrm>
          <a:prstGeom prst="rect">
            <a:avLst/>
          </a:prstGeom>
          <a:noFill/>
        </p:spPr>
        <p:txBody>
          <a:bodyPr wrap="square" anchor="t" lIns="0" rIns="0" tIns="0" bIns="0">
            <a:spAutoFit/>
          </a:bodyPr>
          <a:lstStyle/>
          <a:p>
            <a:pPr algn="l"/>
            <a:r>
              <a:rPr sz="2000" b="1">
                <a:solidFill>
                  <a:srgbClr val="2F2F2F"/>
                </a:solidFill>
              </a:rPr>
              <a:t>上位3つが各5人</a:t>
            </a:r>
          </a:p>
        </p:txBody>
      </p:sp>
      <p:sp>
        <p:nvSpPr>
          <p:cNvPr id="5" name="Oval 4"/>
          <p:cNvSpPr/>
          <p:nvPr/>
        </p:nvSpPr>
        <p:spPr>
          <a:xfrm>
            <a:off x="7772400" y="2286000"/>
            <a:ext cx="777240" cy="777240"/>
          </a:xfrm>
          <a:prstGeom prst="ellipse">
            <a:avLst/>
          </a:prstGeom>
          <a:solidFill>
            <a:srgbClr val="D08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c_run.png"/>
          <p:cNvPicPr>
            <a:picLocks noChangeAspect="1"/>
          </p:cNvPicPr>
          <p:nvPr/>
        </p:nvPicPr>
        <p:blipFill>
          <a:blip r:embed="rId3"/>
          <a:stretch>
            <a:fillRect/>
          </a:stretch>
        </p:blipFill>
        <p:spPr>
          <a:xfrm>
            <a:off x="7964424" y="2478024"/>
            <a:ext cx="393192" cy="393192"/>
          </a:xfrm>
          <a:prstGeom prst="rect">
            <a:avLst/>
          </a:prstGeom>
        </p:spPr>
      </p:pic>
      <p:sp>
        <p:nvSpPr>
          <p:cNvPr id="7" name="TextBox 6"/>
          <p:cNvSpPr txBox="1"/>
          <p:nvPr/>
        </p:nvSpPr>
        <p:spPr>
          <a:xfrm>
            <a:off x="8732520" y="2304288"/>
            <a:ext cx="3017520" cy="411480"/>
          </a:xfrm>
          <a:prstGeom prst="rect">
            <a:avLst/>
          </a:prstGeom>
          <a:noFill/>
        </p:spPr>
        <p:txBody>
          <a:bodyPr wrap="square" anchor="t" lIns="0" rIns="0" tIns="0" bIns="0">
            <a:spAutoFit/>
          </a:bodyPr>
          <a:lstStyle/>
          <a:p>
            <a:pPr algn="l"/>
            <a:r>
              <a:rPr sz="1800" b="1">
                <a:solidFill>
                  <a:srgbClr val="2F2F2F"/>
                </a:solidFill>
              </a:rPr>
              <a:t>部活動・チームで</a:t>
            </a:r>
          </a:p>
        </p:txBody>
      </p:sp>
      <p:sp>
        <p:nvSpPr>
          <p:cNvPr id="8" name="TextBox 7"/>
          <p:cNvSpPr txBox="1"/>
          <p:nvPr/>
        </p:nvSpPr>
        <p:spPr>
          <a:xfrm>
            <a:off x="8732520" y="2715768"/>
            <a:ext cx="3017520" cy="365760"/>
          </a:xfrm>
          <a:prstGeom prst="rect">
            <a:avLst/>
          </a:prstGeom>
          <a:noFill/>
        </p:spPr>
        <p:txBody>
          <a:bodyPr wrap="square" anchor="t" lIns="0" rIns="0" tIns="0" bIns="0">
            <a:spAutoFit/>
          </a:bodyPr>
          <a:lstStyle/>
          <a:p>
            <a:pPr algn="l"/>
            <a:r>
              <a:rPr sz="1400" b="0">
                <a:solidFill>
                  <a:srgbClr val="7A746C"/>
                </a:solidFill>
              </a:rPr>
              <a:t>「部活動で参加した」</a:t>
            </a:r>
          </a:p>
        </p:txBody>
      </p:sp>
      <p:sp>
        <p:nvSpPr>
          <p:cNvPr id="9" name="Oval 8"/>
          <p:cNvSpPr/>
          <p:nvPr/>
        </p:nvSpPr>
        <p:spPr>
          <a:xfrm>
            <a:off x="7772400" y="3337560"/>
            <a:ext cx="777240" cy="777240"/>
          </a:xfrm>
          <a:prstGeom prst="ellipse">
            <a:avLst/>
          </a:prstGeom>
          <a:solidFill>
            <a:srgbClr val="568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seed.png"/>
          <p:cNvPicPr>
            <a:picLocks noChangeAspect="1"/>
          </p:cNvPicPr>
          <p:nvPr/>
        </p:nvPicPr>
        <p:blipFill>
          <a:blip r:embed="rId4"/>
          <a:stretch>
            <a:fillRect/>
          </a:stretch>
        </p:blipFill>
        <p:spPr>
          <a:xfrm>
            <a:off x="7964424" y="3529584"/>
            <a:ext cx="393192" cy="393192"/>
          </a:xfrm>
          <a:prstGeom prst="rect">
            <a:avLst/>
          </a:prstGeom>
        </p:spPr>
      </p:pic>
      <p:sp>
        <p:nvSpPr>
          <p:cNvPr id="11" name="TextBox 10"/>
          <p:cNvSpPr txBox="1"/>
          <p:nvPr/>
        </p:nvSpPr>
        <p:spPr>
          <a:xfrm>
            <a:off x="8732520" y="3355848"/>
            <a:ext cx="3017520" cy="411480"/>
          </a:xfrm>
          <a:prstGeom prst="rect">
            <a:avLst/>
          </a:prstGeom>
          <a:noFill/>
        </p:spPr>
        <p:txBody>
          <a:bodyPr wrap="square" anchor="t" lIns="0" rIns="0" tIns="0" bIns="0">
            <a:spAutoFit/>
          </a:bodyPr>
          <a:lstStyle/>
          <a:p>
            <a:pPr algn="l"/>
            <a:r>
              <a:rPr sz="1800" b="1">
                <a:solidFill>
                  <a:srgbClr val="2F2F2F"/>
                </a:solidFill>
              </a:rPr>
              <a:t>自分の成長・将来</a:t>
            </a:r>
          </a:p>
        </p:txBody>
      </p:sp>
      <p:sp>
        <p:nvSpPr>
          <p:cNvPr id="12" name="TextBox 11"/>
          <p:cNvSpPr txBox="1"/>
          <p:nvPr/>
        </p:nvSpPr>
        <p:spPr>
          <a:xfrm>
            <a:off x="8732520" y="3767328"/>
            <a:ext cx="3017520" cy="365760"/>
          </a:xfrm>
          <a:prstGeom prst="rect">
            <a:avLst/>
          </a:prstGeom>
          <a:noFill/>
        </p:spPr>
        <p:txBody>
          <a:bodyPr wrap="square" anchor="t" lIns="0" rIns="0" tIns="0" bIns="0">
            <a:spAutoFit/>
          </a:bodyPr>
          <a:lstStyle/>
          <a:p>
            <a:pPr algn="l"/>
            <a:r>
              <a:rPr sz="1400" b="0">
                <a:solidFill>
                  <a:srgbClr val="7A746C"/>
                </a:solidFill>
              </a:rPr>
              <a:t>「履歴書に書ける」</a:t>
            </a:r>
          </a:p>
        </p:txBody>
      </p:sp>
      <p:sp>
        <p:nvSpPr>
          <p:cNvPr id="13" name="Oval 12"/>
          <p:cNvSpPr/>
          <p:nvPr/>
        </p:nvSpPr>
        <p:spPr>
          <a:xfrm>
            <a:off x="7772400" y="4389120"/>
            <a:ext cx="777240" cy="777240"/>
          </a:xfrm>
          <a:prstGeom prst="ellipse">
            <a:avLst/>
          </a:prstGeom>
          <a:solidFill>
            <a:srgbClr val="CD9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ulb.png"/>
          <p:cNvPicPr>
            <a:picLocks noChangeAspect="1"/>
          </p:cNvPicPr>
          <p:nvPr/>
        </p:nvPicPr>
        <p:blipFill>
          <a:blip r:embed="rId5"/>
          <a:stretch>
            <a:fillRect/>
          </a:stretch>
        </p:blipFill>
        <p:spPr>
          <a:xfrm>
            <a:off x="7964424" y="4581144"/>
            <a:ext cx="393192" cy="393192"/>
          </a:xfrm>
          <a:prstGeom prst="rect">
            <a:avLst/>
          </a:prstGeom>
        </p:spPr>
      </p:pic>
      <p:sp>
        <p:nvSpPr>
          <p:cNvPr id="15" name="TextBox 14"/>
          <p:cNvSpPr txBox="1"/>
          <p:nvPr/>
        </p:nvSpPr>
        <p:spPr>
          <a:xfrm>
            <a:off x="8732520" y="4407407"/>
            <a:ext cx="3017520" cy="411480"/>
          </a:xfrm>
          <a:prstGeom prst="rect">
            <a:avLst/>
          </a:prstGeom>
          <a:noFill/>
        </p:spPr>
        <p:txBody>
          <a:bodyPr wrap="square" anchor="t" lIns="0" rIns="0" tIns="0" bIns="0">
            <a:spAutoFit/>
          </a:bodyPr>
          <a:lstStyle/>
          <a:p>
            <a:pPr algn="l"/>
            <a:r>
              <a:rPr sz="1800" b="1">
                <a:solidFill>
                  <a:srgbClr val="2F2F2F"/>
                </a:solidFill>
              </a:rPr>
              <a:t>興味・関心</a:t>
            </a:r>
          </a:p>
        </p:txBody>
      </p:sp>
      <p:sp>
        <p:nvSpPr>
          <p:cNvPr id="16" name="TextBox 15"/>
          <p:cNvSpPr txBox="1"/>
          <p:nvPr/>
        </p:nvSpPr>
        <p:spPr>
          <a:xfrm>
            <a:off x="8732520" y="4818888"/>
            <a:ext cx="3017520" cy="365760"/>
          </a:xfrm>
          <a:prstGeom prst="rect">
            <a:avLst/>
          </a:prstGeom>
          <a:noFill/>
        </p:spPr>
        <p:txBody>
          <a:bodyPr wrap="square" anchor="t" lIns="0" rIns="0" tIns="0" bIns="0">
            <a:spAutoFit/>
          </a:bodyPr>
          <a:lstStyle/>
          <a:p>
            <a:pPr algn="l"/>
            <a:r>
              <a:rPr sz="1400" b="0">
                <a:solidFill>
                  <a:srgbClr val="7A746C"/>
                </a:solidFill>
              </a:rPr>
              <a:t>「防災」「アジア大会」</a:t>
            </a:r>
          </a:p>
        </p:txBody>
      </p:sp>
      <p:sp>
        <p:nvSpPr>
          <p:cNvPr id="17" name="Rounded Rectangle 16"/>
          <p:cNvSpPr/>
          <p:nvPr/>
        </p:nvSpPr>
        <p:spPr>
          <a:xfrm>
            <a:off x="7772400" y="5486400"/>
            <a:ext cx="3931920" cy="685800"/>
          </a:xfrm>
          <a:prstGeom prst="roundRect">
            <a:avLst/>
          </a:prstGeom>
          <a:solidFill>
            <a:srgbClr val="EFE9E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D0805C"/>
                </a:solidFill>
              </a:rPr>
              <a:t>「人の役に立ちたい」は 2人だけ</a:t>
            </a:r>
          </a:p>
        </p:txBody>
      </p:sp>
      <p:sp>
        <p:nvSpPr>
          <p:cNvPr id="18" name="TextBox 17"/>
          <p:cNvSpPr txBox="1"/>
          <p:nvPr/>
        </p:nvSpPr>
        <p:spPr>
          <a:xfrm>
            <a:off x="704088" y="5989320"/>
            <a:ext cx="7315200" cy="274320"/>
          </a:xfrm>
          <a:prstGeom prst="rect">
            <a:avLst/>
          </a:prstGeom>
          <a:noFill/>
        </p:spPr>
        <p:txBody>
          <a:bodyPr wrap="square" anchor="t" lIns="0" rIns="0" tIns="0" bIns="0">
            <a:spAutoFit/>
          </a:bodyPr>
          <a:lstStyle/>
          <a:p>
            <a:pPr algn="l"/>
            <a:r>
              <a:rPr sz="1000" b="0">
                <a:solidFill>
                  <a:srgbClr val="7A746C"/>
                </a:solidFill>
              </a:rPr>
              <a:t>出典：アンケート結果（2026年10月21日実施）をもとに作成者がExcelで作成</a:t>
            </a:r>
          </a:p>
        </p:txBody>
      </p:sp>
    </p:spTree>
    <p:extLst>
      <p:ext uri="{BB962C8B-B14F-4D97-AF65-F5344CB8AC3E}">
        <p14:creationId xmlns:p14="http://schemas.microsoft.com/office/powerpoint/2010/main" val="3659907339"/>
      </p:ext>
    </p:extLst>
  </p:cSld>
  <p:clrMapOvr>
    <a:masterClrMapping/>
  </p:clrMapOvr>
</p:sld>
</file>

<file path=ppt/theme/theme1.xml><?xml version="1.0" encoding="utf-8"?>
<a:theme xmlns:a="http://schemas.openxmlformats.org/drawingml/2006/main" name="スクール デイズ">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School Days</Template>
  <TotalTime>57</TotalTime>
  <Words>0</Words>
  <Application>Microsoft Macintosh PowerPoint</Application>
  <PresentationFormat>ワイド画面</PresentationFormat>
  <Paragraphs>0</Paragraphs>
  <Slides>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Arial</vt:lpstr>
      <vt:lpstr>JasmineUPC</vt:lpstr>
      <vt:lpstr>Raleway</vt:lpstr>
      <vt:lpstr>スクール デイズ</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sp260834</dc:creator>
  <cp:lastModifiedBy>sp260834</cp:lastModifiedBy>
  <cp:revision>2</cp:revision>
  <dcterms:created xsi:type="dcterms:W3CDTF">2026-10-21T00:33:32Z</dcterms:created>
  <dcterms:modified xsi:type="dcterms:W3CDTF">2026-10-21T01:31:18Z</dcterms:modified>
</cp:coreProperties>
</file>