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63238"/>
                </a:solidFill>
                <a:latin typeface="+mn-lt"/>
              </a:defRPr>
            </a:pPr>
            <a:r>
              <a:rPr sz="1600" b="0" i="0" u="none" strike="noStrike">
                <a:solidFill>
                  <a:srgbClr val="263238"/>
                </a:solidFill>
                <a:latin typeface="+mn-lt"/>
              </a:rPr>
              <a:t>ボランティア経験の有無（n=28）</a:t>
            </a:r>
          </a:p>
        </c:rich>
      </c:tx>
      <c:layout/>
      <c:overlay val="0"/>
    </c:title>
    <c:autoTitleDeleted val="0"/>
    <c:plotArea>
      <c:layout/>
      <c:doughnutChart>
        <c:varyColors val="1"/>
        <c:ser>
          <c:idx val="0"/>
          <c:order val="0"/>
          <c:tx>
            <c:strRef>
              <c:f>Sheet1!$B$1</c:f>
              <c:strCache>
                <c:ptCount val="1"/>
                <c:pt idx="0">
                  <c:v>人数</c:v>
                </c:pt>
              </c:strCache>
            </c:strRef>
          </c:tx>
          <c:spPr>
            <a:solidFill>
              <a:schemeClr val="accent1"/>
            </a:solidFill>
            <a:ln w="9525" cap="flat">
              <a:solidFill>
                <a:srgbClr val="F9F9F9"/>
              </a:solidFill>
              <a:prstDash val="solid"/>
              <a:round/>
            </a:ln>
            <a:effectLst/>
          </c:spPr>
          <c:dPt>
            <c:idx val="0"/>
            <c:bubble3D val="0"/>
            <c:spPr>
              <a:solidFill>
                <a:srgbClr val="2E7D5B"/>
              </a:solidFill>
              <a:effectLst/>
            </c:spPr>
          </c:dPt>
          <c:dPt>
            <c:idx val="1"/>
            <c:bubble3D val="0"/>
            <c:spPr>
              <a:solidFill>
                <a:srgbClr val="C8D6CE"/>
              </a:solidFill>
              <a:effectLst/>
            </c:spPr>
          </c:dPt>
          <c:dLbls>
            <c:dLbl>
              <c:idx val="0"/>
              <c:numFmt formatCode="0%" sourceLinked="0"/>
              <c:spPr/>
              <c:txPr>
                <a:bodyPr/>
                <a:lstStyle/>
                <a:p>
                  <a:pPr>
                    <a:defRPr sz="16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6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ある</c:v>
                </c:pt>
                <c:pt idx="1">
                  <c:v>ない</c:v>
                </c:pt>
              </c:strCache>
            </c:strRef>
          </c:cat>
          <c:val>
            <c:numRef>
              <c:f>Sheet1!$B$2:$B$3</c:f>
              <c:numCache>
                <c:ptCount val="2"/>
                <c:pt idx="0">
                  <c:v>20</c:v>
                </c:pt>
                <c:pt idx="1">
                  <c:v>8</c:v>
                </c:pt>
              </c:numCache>
            </c:numRef>
          </c:val>
        </c:ser>
        <c:firstSliceAng val="0"/>
        <c:holeSize val="55"/>
      </c:doughnutChart>
      <c:spPr>
        <a:noFill/>
        <a:ln>
          <a:noFill/>
        </a:ln>
        <a:effectLst/>
      </c:spPr>
    </c:plotArea>
    <c:legend>
      <c:legendPos val="b"/>
      <c:overlay val="0"/>
      <c:txPr>
        <a:bodyPr/>
        <a:lstStyle/>
        <a:p>
          <a:pPr>
            <a:defRPr sz="1400">
              <a:solidFill>
                <a:srgbClr val="2632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63238"/>
                </a:solidFill>
                <a:latin typeface="+mn-lt"/>
              </a:defRPr>
            </a:pPr>
            <a:r>
              <a:rPr sz="1600" b="0" i="0" u="none" strike="noStrike">
                <a:solidFill>
                  <a:srgbClr val="263238"/>
                </a:solidFill>
                <a:latin typeface="+mn-lt"/>
              </a:rPr>
              <a:t>参加した理由（n=20・自由記述を分類）</a:t>
            </a:r>
          </a:p>
        </c:rich>
      </c:tx>
      <c:layout/>
      <c:overlay val="0"/>
    </c:title>
    <c:autoTitleDeleted val="0"/>
    <c:plotArea>
      <c:layout/>
      <c:barChart>
        <c:barDir val="bar"/>
        <c:grouping val="clustered"/>
        <c:varyColors val="0"/>
        <c:ser>
          <c:idx val="0"/>
          <c:order val="0"/>
          <c:tx>
            <c:strRef>
              <c:f>Sheet1!$B$1</c:f>
              <c:strCache>
                <c:ptCount val="1"/>
                <c:pt idx="0">
                  <c:v>人数</c:v>
                </c:pt>
              </c:strCache>
            </c:strRef>
          </c:tx>
          <c:spPr>
            <a:solidFill>
              <a:srgbClr val="F2994A"/>
            </a:solidFill>
            <a:effectLst/>
          </c:spPr>
          <c:invertIfNegative val="0"/>
          <c:dLbls>
            <c:numFmt formatCode="#,##0" sourceLinked="0"/>
            <c:txPr>
              <a:bodyPr/>
              <a:lstStyle/>
              <a:p>
                <a:pPr>
                  <a:defRPr b="0" i="0" strike="noStrike" sz="1400" u="none">
                    <a:solidFill>
                      <a:srgbClr val="263238"/>
                    </a:solidFill>
                    <a:latin typeface="+mn-lt"/>
                  </a:defRPr>
                </a:pPr>
              </a:p>
            </c:txPr>
            <c:showLegendKey val="0"/>
            <c:showVal val="1"/>
            <c:showCatName val="0"/>
            <c:showSerName val="0"/>
            <c:showPercent val="0"/>
            <c:showBubbleSize val="0"/>
            <c:showLeaderLines val="0"/>
          </c:dLbls>
          <c:cat>
            <c:multiLvlStrRef>
              <c:f>Sheet1!$A$2:$A$7</c:f>
              <c:multiLvlStrCache>
                <c:ptCount val="6"/>
                <c:lvl>
                  <c:pt idx="0">
                    <c:v>部活動・チームで</c:v>
                  </c:pt>
                  <c:pt idx="1">
                    <c:v>自分の成長・将来</c:v>
                  </c:pt>
                  <c:pt idx="2">
                    <c:v>興味・関心</c:v>
                  </c:pt>
                  <c:pt idx="3">
                    <c:v>人の役に立ちたい</c:v>
                  </c:pt>
                  <c:pt idx="4">
                    <c:v>家族・友人の影響</c:v>
                  </c:pt>
                  <c:pt idx="5">
                    <c:v>その他</c:v>
                  </c:pt>
                </c:lvl>
              </c:multiLvlStrCache>
            </c:multiLvlStrRef>
          </c:cat>
          <c:val>
            <c:numRef>
              <c:f>Sheet1!$B$2:$B$7</c:f>
              <c:numCache>
                <c:formatCode>General</c:formatCode>
                <c:ptCount val="6"/>
                <c:pt idx="0">
                  <c:v>5</c:v>
                </c:pt>
                <c:pt idx="1">
                  <c:v>5</c:v>
                </c:pt>
                <c:pt idx="2">
                  <c:v>5</c:v>
                </c:pt>
                <c:pt idx="3">
                  <c:v>2</c:v>
                </c:pt>
                <c:pt idx="4">
                  <c:v>2</c:v>
                </c:pt>
                <c:pt idx="5">
                  <c:v>1</c:v>
                </c:pt>
              </c:numCache>
            </c:numRef>
          </c:val>
        </c:ser>
        <c:dLbls>
          <c:numFmt formatCode="#,##0" sourceLinked="0"/>
          <c:txPr>
            <a:bodyPr/>
            <a:lstStyle/>
            <a:p>
              <a:pPr>
                <a:defRPr b="0" i="0" strike="noStrike" sz="1400" u="none">
                  <a:solidFill>
                    <a:srgbClr val="26323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63238"/>
                </a:solidFill>
                <a:latin typeface="+mn-lt"/>
              </a:defRPr>
            </a:pPr>
            <a:endParaRPr lang="en-US"/>
          </a:p>
        </c:txPr>
        <c:crossAx val="2094734552"/>
        <c:crosses val="autoZero"/>
        <c:auto val="1"/>
        <c:lblAlgn val="ctr"/>
        <c:noMultiLvlLbl val="1"/>
      </c:catAx>
      <c:valAx>
        <c:axId val="2094734552"/>
        <c:scaling>
          <c:orientation val="minMax"/>
          <c:max val="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から「なぜボランティアに参加するのか」というテーマで発表します。クラスの皆さんにご協力いただいたアンケートの結果をもとに、ボランティアに参加したきっかけを調べました。よろしくお願い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調査の概要です。対象はこのクラスの学生で、28名から回答をいただきました。実施日は10月21日で、Googleフォームを使いました。質問は2つで、1つ目はボランティアをしたことがあるかどうか、2つ目は、あると答えた人に参加した理由を自由に書いてもら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1つ目の結果です。ボランティアをしたことがある人は28人中20人で、約71パーセントでした。およそ10人に7人が経験していることになり、思っていたよりも多いと感じました。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目の結果です。参加した理由は自由記述だったので、内容ごとに6つに分けて集計しました。いちばん多かったのは「部活動やチームで参加した」「自分の成長や将来のため」「興味・関心があった」の3つで、それぞれ5人ずつでした。例えば「履歴書に書けるから」や「アジア大会が身近な名古屋で開かれたから」といった回答がありました。一方で「人の役に立ちたい」は2人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全国の調査と比べてみました。内閣府の「市民の社会貢献に関する実態調査」によると、ボランティアに参加した理由の1位は「社会の役に立ちたいと思ったから」で59.1パーセント、2位は「自己啓発や自らの成長につながるから」で34.3パーセントでした。私たちのクラスでは「自分の成長」は共通していますが、「部活動やチームで参加した」という、きっかけが周りから与えられたケースが多いのが特徴です。ただし、全国の調査は大人を含む幅広い年代が対象で、複数回答なので、単純には比べられない点に注意が必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今回の調査から、ボランティアは部活動などの身近な集団がきっかけになることが多いと分かりました。また、「自分の成長のため」や「履歴書に書けるから」といった自分のための理由でも、参加することに意味があると思います。まずは興味のある活動から、気軽に参加してみてはいかがでしょうか。以上で発表を終わり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5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ctr" indent="0" marL="0">
              <a:buNone/>
              <a:defRPr lang="en-US" sz="4400" b="1" dirty="0">
                <a:solidFill>
                  <a:srgbClr val="FFFFFF"/>
                </a:solidFill>
              </a:defRPr>
            </a:lvl1pPr>
          </a:lstStyle>
          <a:p>
            <a:pPr algn="ctr"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rgbClr val="1F5A4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7D8B"/>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7D8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3-10.png"/><Relationship Id="rId12" Type="http://schemas.openxmlformats.org/officeDocument/2006/relationships/slideLayout" Target="../slideLayouts/slideLayout3.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13248" y="640080"/>
            <a:ext cx="1371600" cy="1371600"/>
          </a:xfrm>
          <a:prstGeom prst="ellipse">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5756148" y="982980"/>
            <a:ext cx="685800" cy="685800"/>
          </a:xfrm>
          <a:prstGeom prst="rect">
            <a:avLst/>
          </a:prstGeom>
        </p:spPr>
      </p:pic>
      <p:sp>
        <p:nvSpPr>
          <p:cNvPr id="4" name="Text 0"/>
          <p:cNvSpPr/>
          <p:nvPr>
            <p:ph idx="100" type="title" hasCustomPrompt="1"/>
          </p:nvPr>
        </p:nvSpPr>
        <p:spPr>
          <a:xfrm>
            <a:off x="731520" y="2011680"/>
            <a:ext cx="10698480" cy="1463040"/>
          </a:xfrm>
          <a:prstGeom prst="rect">
            <a:avLst/>
          </a:prstGeom>
          <a:noFill/>
          <a:ln/>
        </p:spPr>
        <p:txBody>
          <a:bodyPr wrap="square" rtlCol="0" anchor="ctr"/>
          <a:lstStyle/>
          <a:p>
            <a:pPr algn="ctr" indent="0" marL="0">
              <a:buNone/>
            </a:pPr>
            <a:r>
              <a:rPr lang="en-US" sz="4400" b="1" dirty="0">
                <a:solidFill>
                  <a:srgbClr val="FFFFFF"/>
                </a:solidFill>
              </a:rPr>
              <a:t>なぜボランティアに参加するの？</a:t>
            </a:r>
            <a:endParaRPr lang="en-US" sz="4400" dirty="0"/>
          </a:p>
        </p:txBody>
      </p:sp>
      <p:sp>
        <p:nvSpPr>
          <p:cNvPr id="5" name="Text 2"/>
          <p:cNvSpPr txBox="1"/>
          <p:nvPr/>
        </p:nvSpPr>
        <p:spPr>
          <a:xfrm>
            <a:off x="914400" y="3566160"/>
            <a:ext cx="10360152" cy="548640"/>
          </a:xfrm>
          <a:prstGeom prst="rect">
            <a:avLst/>
          </a:prstGeom>
          <a:noFill/>
          <a:ln/>
        </p:spPr>
        <p:txBody>
          <a:bodyPr wrap="square" rtlCol="0" anchor="ctr"/>
          <a:lstStyle/>
          <a:p>
            <a:pPr algn="ctr" indent="0" marL="0">
              <a:buNone/>
            </a:pPr>
            <a:r>
              <a:rPr lang="en-US" sz="2200" dirty="0">
                <a:solidFill>
                  <a:srgbClr val="CFE3D7"/>
                </a:solidFill>
                <a:latin typeface="Meiryo" pitchFamily="34" charset="0"/>
                <a:ea typeface="Meiryo" pitchFamily="34" charset="-122"/>
                <a:cs typeface="Meiryo" pitchFamily="34" charset="-120"/>
              </a:rPr>
              <a:t>学生28名へのアンケート調査から</a:t>
            </a:r>
            <a:endParaRPr lang="en-US" sz="2200" dirty="0"/>
          </a:p>
        </p:txBody>
      </p:sp>
      <p:sp>
        <p:nvSpPr>
          <p:cNvPr id="6" name="Text 3"/>
          <p:cNvSpPr txBox="1"/>
          <p:nvPr/>
        </p:nvSpPr>
        <p:spPr>
          <a:xfrm>
            <a:off x="914400" y="5669280"/>
            <a:ext cx="10360152" cy="457200"/>
          </a:xfrm>
          <a:prstGeom prst="rect">
            <a:avLst/>
          </a:prstGeom>
          <a:noFill/>
          <a:ln/>
        </p:spPr>
        <p:txBody>
          <a:bodyPr wrap="square" rtlCol="0" anchor="ctr"/>
          <a:lstStyle/>
          <a:p>
            <a:pPr algn="ctr" indent="0" marL="0">
              <a:buNone/>
            </a:pPr>
            <a:r>
              <a:rPr lang="en-US" sz="1600" dirty="0">
                <a:solidFill>
                  <a:srgbClr val="CFE3D7"/>
                </a:solidFill>
                <a:latin typeface="Meiryo" pitchFamily="34" charset="0"/>
                <a:ea typeface="Meiryo" pitchFamily="34" charset="-122"/>
                <a:cs typeface="Meiryo" pitchFamily="34" charset="-120"/>
              </a:rPr>
              <a:t>26SP0834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1F5A41"/>
                </a:solidFill>
              </a:rPr>
              <a:t>調査の概要</a:t>
            </a:r>
            <a:endParaRPr lang="en-US" sz="3200" dirty="0"/>
          </a:p>
        </p:txBody>
      </p:sp>
      <p:sp>
        <p:nvSpPr>
          <p:cNvPr id="3" name="Shape 1"/>
          <p:cNvSpPr/>
          <p:nvPr/>
        </p:nvSpPr>
        <p:spPr>
          <a:xfrm>
            <a:off x="548640" y="1737360"/>
            <a:ext cx="2560320" cy="3291840"/>
          </a:xfrm>
          <a:prstGeom prst="roundRect">
            <a:avLst>
              <a:gd name="adj" fmla="val 5357"/>
            </a:avLst>
          </a:prstGeom>
          <a:solidFill>
            <a:srgbClr val="E6F0EA"/>
          </a:solidFill>
          <a:ln w="12700">
            <a:solidFill>
              <a:srgbClr val="E6F0EA"/>
            </a:solidFill>
            <a:prstDash val="solid"/>
          </a:ln>
        </p:spPr>
      </p:sp>
      <p:sp>
        <p:nvSpPr>
          <p:cNvPr id="4" name="Shape 2"/>
          <p:cNvSpPr/>
          <p:nvPr/>
        </p:nvSpPr>
        <p:spPr>
          <a:xfrm>
            <a:off x="1234440" y="2057400"/>
            <a:ext cx="1188720" cy="1188720"/>
          </a:xfrm>
          <a:prstGeom prst="ellipse">
            <a:avLst/>
          </a:prstGeom>
          <a:solidFill>
            <a:srgbClr val="2E7D5B"/>
          </a:solidFill>
          <a:ln w="12700">
            <a:solidFill>
              <a:srgbClr val="2E7D5B"/>
            </a:solidFill>
            <a:prstDash val="solid"/>
          </a:ln>
        </p:spPr>
      </p:sp>
      <p:pic>
        <p:nvPicPr>
          <p:cNvPr id="5" name="Image 0" descr="preencoded.png">    </p:cNvPr>
          <p:cNvPicPr>
            <a:picLocks noChangeAspect="1"/>
          </p:cNvPicPr>
          <p:nvPr/>
        </p:nvPicPr>
        <p:blipFill>
          <a:blip r:embed="rId1"/>
          <a:stretch>
            <a:fillRect/>
          </a:stretch>
        </p:blipFill>
        <p:spPr>
          <a:xfrm>
            <a:off x="1531620" y="2354580"/>
            <a:ext cx="594360" cy="594360"/>
          </a:xfrm>
          <a:prstGeom prst="rect">
            <a:avLst/>
          </a:prstGeom>
        </p:spPr>
      </p:pic>
      <p:sp>
        <p:nvSpPr>
          <p:cNvPr id="6" name="Text 3"/>
          <p:cNvSpPr txBox="1"/>
          <p:nvPr/>
        </p:nvSpPr>
        <p:spPr>
          <a:xfrm>
            <a:off x="548640" y="3429000"/>
            <a:ext cx="2560320" cy="457200"/>
          </a:xfrm>
          <a:prstGeom prst="rect">
            <a:avLst/>
          </a:prstGeom>
          <a:noFill/>
          <a:ln/>
        </p:spPr>
        <p:txBody>
          <a:bodyPr wrap="square" rtlCol="0" anchor="ctr"/>
          <a:lstStyle/>
          <a:p>
            <a:pPr algn="ctr" indent="0" marL="0">
              <a:buNone/>
            </a:pPr>
            <a:r>
              <a:rPr lang="en-US" sz="1600" dirty="0">
                <a:solidFill>
                  <a:srgbClr val="607D8B"/>
                </a:solidFill>
                <a:latin typeface="Meiryo" pitchFamily="34" charset="0"/>
                <a:ea typeface="Meiryo" pitchFamily="34" charset="-122"/>
                <a:cs typeface="Meiryo" pitchFamily="34" charset="-120"/>
              </a:rPr>
              <a:t>対象</a:t>
            </a:r>
            <a:endParaRPr lang="en-US" sz="1600" dirty="0"/>
          </a:p>
        </p:txBody>
      </p:sp>
      <p:sp>
        <p:nvSpPr>
          <p:cNvPr id="7" name="Text 4"/>
          <p:cNvSpPr txBox="1"/>
          <p:nvPr/>
        </p:nvSpPr>
        <p:spPr>
          <a:xfrm>
            <a:off x="640080" y="3886200"/>
            <a:ext cx="2377440" cy="731520"/>
          </a:xfrm>
          <a:prstGeom prst="rect">
            <a:avLst/>
          </a:prstGeom>
          <a:noFill/>
          <a:ln/>
        </p:spPr>
        <p:txBody>
          <a:bodyPr wrap="square" rtlCol="0" anchor="ctr"/>
          <a:lstStyle/>
          <a:p>
            <a:pPr algn="ctr" indent="0" marL="0">
              <a:buNone/>
            </a:pPr>
            <a:r>
              <a:rPr lang="en-US" sz="2000" b="1" dirty="0">
                <a:solidFill>
                  <a:srgbClr val="1F5A41"/>
                </a:solidFill>
                <a:latin typeface="Meiryo" pitchFamily="34" charset="0"/>
                <a:ea typeface="Meiryo" pitchFamily="34" charset="-122"/>
                <a:cs typeface="Meiryo" pitchFamily="34" charset="-120"/>
              </a:rPr>
              <a:t>クラスの学生</a:t>
            </a:r>
            <a:endParaRPr lang="en-US" sz="2000" dirty="0"/>
          </a:p>
        </p:txBody>
      </p:sp>
      <p:sp>
        <p:nvSpPr>
          <p:cNvPr id="8" name="Shape 5"/>
          <p:cNvSpPr/>
          <p:nvPr/>
        </p:nvSpPr>
        <p:spPr>
          <a:xfrm>
            <a:off x="3383280" y="1737360"/>
            <a:ext cx="2560320" cy="3291840"/>
          </a:xfrm>
          <a:prstGeom prst="roundRect">
            <a:avLst>
              <a:gd name="adj" fmla="val 5357"/>
            </a:avLst>
          </a:prstGeom>
          <a:solidFill>
            <a:srgbClr val="E6F0EA"/>
          </a:solidFill>
          <a:ln w="12700">
            <a:solidFill>
              <a:srgbClr val="E6F0EA"/>
            </a:solidFill>
            <a:prstDash val="solid"/>
          </a:ln>
        </p:spPr>
      </p:sp>
      <p:sp>
        <p:nvSpPr>
          <p:cNvPr id="9" name="Shape 6"/>
          <p:cNvSpPr/>
          <p:nvPr/>
        </p:nvSpPr>
        <p:spPr>
          <a:xfrm>
            <a:off x="4069080" y="2057400"/>
            <a:ext cx="1188720" cy="1188720"/>
          </a:xfrm>
          <a:prstGeom prst="ellipse">
            <a:avLst/>
          </a:prstGeom>
          <a:solidFill>
            <a:srgbClr val="2E7D5B"/>
          </a:solidFill>
          <a:ln w="12700">
            <a:solidFill>
              <a:srgbClr val="2E7D5B"/>
            </a:solidFill>
            <a:prstDash val="solid"/>
          </a:ln>
        </p:spPr>
      </p:sp>
      <p:pic>
        <p:nvPicPr>
          <p:cNvPr id="10" name="Image 1" descr="preencoded.png">    </p:cNvPr>
          <p:cNvPicPr>
            <a:picLocks noChangeAspect="1"/>
          </p:cNvPicPr>
          <p:nvPr/>
        </p:nvPicPr>
        <p:blipFill>
          <a:blip r:embed="rId2"/>
          <a:stretch>
            <a:fillRect/>
          </a:stretch>
        </p:blipFill>
        <p:spPr>
          <a:xfrm>
            <a:off x="4366260" y="2354580"/>
            <a:ext cx="594360" cy="594360"/>
          </a:xfrm>
          <a:prstGeom prst="rect">
            <a:avLst/>
          </a:prstGeom>
        </p:spPr>
      </p:pic>
      <p:sp>
        <p:nvSpPr>
          <p:cNvPr id="11" name="Text 7"/>
          <p:cNvSpPr txBox="1"/>
          <p:nvPr/>
        </p:nvSpPr>
        <p:spPr>
          <a:xfrm>
            <a:off x="3383280" y="3429000"/>
            <a:ext cx="2560320" cy="457200"/>
          </a:xfrm>
          <a:prstGeom prst="rect">
            <a:avLst/>
          </a:prstGeom>
          <a:noFill/>
          <a:ln/>
        </p:spPr>
        <p:txBody>
          <a:bodyPr wrap="square" rtlCol="0" anchor="ctr"/>
          <a:lstStyle/>
          <a:p>
            <a:pPr algn="ctr" indent="0" marL="0">
              <a:buNone/>
            </a:pPr>
            <a:r>
              <a:rPr lang="en-US" sz="1600" dirty="0">
                <a:solidFill>
                  <a:srgbClr val="607D8B"/>
                </a:solidFill>
                <a:latin typeface="Meiryo" pitchFamily="34" charset="0"/>
                <a:ea typeface="Meiryo" pitchFamily="34" charset="-122"/>
                <a:cs typeface="Meiryo" pitchFamily="34" charset="-120"/>
              </a:rPr>
              <a:t>回答数</a:t>
            </a:r>
            <a:endParaRPr lang="en-US" sz="1600" dirty="0"/>
          </a:p>
        </p:txBody>
      </p:sp>
      <p:sp>
        <p:nvSpPr>
          <p:cNvPr id="12" name="Text 8"/>
          <p:cNvSpPr txBox="1"/>
          <p:nvPr/>
        </p:nvSpPr>
        <p:spPr>
          <a:xfrm>
            <a:off x="3474720" y="3886200"/>
            <a:ext cx="2377440" cy="731520"/>
          </a:xfrm>
          <a:prstGeom prst="rect">
            <a:avLst/>
          </a:prstGeom>
          <a:noFill/>
          <a:ln/>
        </p:spPr>
        <p:txBody>
          <a:bodyPr wrap="square" rtlCol="0" anchor="ctr"/>
          <a:lstStyle/>
          <a:p>
            <a:pPr algn="ctr" indent="0" marL="0">
              <a:buNone/>
            </a:pPr>
            <a:r>
              <a:rPr lang="en-US" sz="3200" b="1" dirty="0">
                <a:solidFill>
                  <a:srgbClr val="1F5A41"/>
                </a:solidFill>
                <a:latin typeface="Meiryo" pitchFamily="34" charset="0"/>
                <a:ea typeface="Meiryo" pitchFamily="34" charset="-122"/>
                <a:cs typeface="Meiryo" pitchFamily="34" charset="-120"/>
              </a:rPr>
              <a:t>28名</a:t>
            </a:r>
            <a:endParaRPr lang="en-US" sz="3200" dirty="0"/>
          </a:p>
        </p:txBody>
      </p:sp>
      <p:sp>
        <p:nvSpPr>
          <p:cNvPr id="13" name="Shape 9"/>
          <p:cNvSpPr/>
          <p:nvPr/>
        </p:nvSpPr>
        <p:spPr>
          <a:xfrm>
            <a:off x="6217920" y="1737360"/>
            <a:ext cx="2560320" cy="3291840"/>
          </a:xfrm>
          <a:prstGeom prst="roundRect">
            <a:avLst>
              <a:gd name="adj" fmla="val 5357"/>
            </a:avLst>
          </a:prstGeom>
          <a:solidFill>
            <a:srgbClr val="E6F0EA"/>
          </a:solidFill>
          <a:ln w="12700">
            <a:solidFill>
              <a:srgbClr val="E6F0EA"/>
            </a:solidFill>
            <a:prstDash val="solid"/>
          </a:ln>
        </p:spPr>
      </p:sp>
      <p:sp>
        <p:nvSpPr>
          <p:cNvPr id="14" name="Shape 10"/>
          <p:cNvSpPr/>
          <p:nvPr/>
        </p:nvSpPr>
        <p:spPr>
          <a:xfrm>
            <a:off x="6903720" y="2057400"/>
            <a:ext cx="1188720" cy="1188720"/>
          </a:xfrm>
          <a:prstGeom prst="ellipse">
            <a:avLst/>
          </a:prstGeom>
          <a:solidFill>
            <a:srgbClr val="2E7D5B"/>
          </a:solidFill>
          <a:ln w="12700">
            <a:solidFill>
              <a:srgbClr val="2E7D5B"/>
            </a:solidFill>
            <a:prstDash val="solid"/>
          </a:ln>
        </p:spPr>
      </p:sp>
      <p:pic>
        <p:nvPicPr>
          <p:cNvPr id="15" name="Image 2" descr="preencoded.png">    </p:cNvPr>
          <p:cNvPicPr>
            <a:picLocks noChangeAspect="1"/>
          </p:cNvPicPr>
          <p:nvPr/>
        </p:nvPicPr>
        <p:blipFill>
          <a:blip r:embed="rId3"/>
          <a:stretch>
            <a:fillRect/>
          </a:stretch>
        </p:blipFill>
        <p:spPr>
          <a:xfrm>
            <a:off x="7200900" y="2354580"/>
            <a:ext cx="594360" cy="594360"/>
          </a:xfrm>
          <a:prstGeom prst="rect">
            <a:avLst/>
          </a:prstGeom>
        </p:spPr>
      </p:pic>
      <p:sp>
        <p:nvSpPr>
          <p:cNvPr id="16" name="Text 11"/>
          <p:cNvSpPr txBox="1"/>
          <p:nvPr/>
        </p:nvSpPr>
        <p:spPr>
          <a:xfrm>
            <a:off x="6217920" y="3429000"/>
            <a:ext cx="2560320" cy="457200"/>
          </a:xfrm>
          <a:prstGeom prst="rect">
            <a:avLst/>
          </a:prstGeom>
          <a:noFill/>
          <a:ln/>
        </p:spPr>
        <p:txBody>
          <a:bodyPr wrap="square" rtlCol="0" anchor="ctr"/>
          <a:lstStyle/>
          <a:p>
            <a:pPr algn="ctr" indent="0" marL="0">
              <a:buNone/>
            </a:pPr>
            <a:r>
              <a:rPr lang="en-US" sz="1600" dirty="0">
                <a:solidFill>
                  <a:srgbClr val="607D8B"/>
                </a:solidFill>
                <a:latin typeface="Meiryo" pitchFamily="34" charset="0"/>
                <a:ea typeface="Meiryo" pitchFamily="34" charset="-122"/>
                <a:cs typeface="Meiryo" pitchFamily="34" charset="-120"/>
              </a:rPr>
              <a:t>実施日</a:t>
            </a:r>
            <a:endParaRPr lang="en-US" sz="1600" dirty="0"/>
          </a:p>
        </p:txBody>
      </p:sp>
      <p:sp>
        <p:nvSpPr>
          <p:cNvPr id="17" name="Text 12"/>
          <p:cNvSpPr txBox="1"/>
          <p:nvPr/>
        </p:nvSpPr>
        <p:spPr>
          <a:xfrm>
            <a:off x="6309360" y="3886200"/>
            <a:ext cx="2377440" cy="731520"/>
          </a:xfrm>
          <a:prstGeom prst="rect">
            <a:avLst/>
          </a:prstGeom>
          <a:noFill/>
          <a:ln/>
        </p:spPr>
        <p:txBody>
          <a:bodyPr wrap="square" rtlCol="0" anchor="ctr"/>
          <a:lstStyle/>
          <a:p>
            <a:pPr algn="ctr" indent="0" marL="0">
              <a:buNone/>
            </a:pPr>
            <a:r>
              <a:rPr lang="en-US" sz="2000" b="1" dirty="0">
                <a:solidFill>
                  <a:srgbClr val="1F5A41"/>
                </a:solidFill>
                <a:latin typeface="Meiryo" pitchFamily="34" charset="0"/>
                <a:ea typeface="Meiryo" pitchFamily="34" charset="-122"/>
                <a:cs typeface="Meiryo" pitchFamily="34" charset="-120"/>
              </a:rPr>
              <a:t>2026.10.21</a:t>
            </a:r>
            <a:endParaRPr lang="en-US" sz="2000" dirty="0"/>
          </a:p>
        </p:txBody>
      </p:sp>
      <p:sp>
        <p:nvSpPr>
          <p:cNvPr id="18" name="Shape 13"/>
          <p:cNvSpPr/>
          <p:nvPr/>
        </p:nvSpPr>
        <p:spPr>
          <a:xfrm>
            <a:off x="9052560" y="1737360"/>
            <a:ext cx="2560320" cy="3291840"/>
          </a:xfrm>
          <a:prstGeom prst="roundRect">
            <a:avLst>
              <a:gd name="adj" fmla="val 5357"/>
            </a:avLst>
          </a:prstGeom>
          <a:solidFill>
            <a:srgbClr val="E6F0EA"/>
          </a:solidFill>
          <a:ln w="12700">
            <a:solidFill>
              <a:srgbClr val="E6F0EA"/>
            </a:solidFill>
            <a:prstDash val="solid"/>
          </a:ln>
        </p:spPr>
      </p:sp>
      <p:sp>
        <p:nvSpPr>
          <p:cNvPr id="19" name="Shape 14"/>
          <p:cNvSpPr/>
          <p:nvPr/>
        </p:nvSpPr>
        <p:spPr>
          <a:xfrm>
            <a:off x="9738360" y="2057400"/>
            <a:ext cx="1188720" cy="1188720"/>
          </a:xfrm>
          <a:prstGeom prst="ellipse">
            <a:avLst/>
          </a:prstGeom>
          <a:solidFill>
            <a:srgbClr val="2E7D5B"/>
          </a:solidFill>
          <a:ln w="12700">
            <a:solidFill>
              <a:srgbClr val="2E7D5B"/>
            </a:solidFill>
            <a:prstDash val="solid"/>
          </a:ln>
        </p:spPr>
      </p:sp>
      <p:pic>
        <p:nvPicPr>
          <p:cNvPr id="20" name="Image 3" descr="preencoded.png">    </p:cNvPr>
          <p:cNvPicPr>
            <a:picLocks noChangeAspect="1"/>
          </p:cNvPicPr>
          <p:nvPr/>
        </p:nvPicPr>
        <p:blipFill>
          <a:blip r:embed="rId4"/>
          <a:stretch>
            <a:fillRect/>
          </a:stretch>
        </p:blipFill>
        <p:spPr>
          <a:xfrm>
            <a:off x="10035540" y="2354580"/>
            <a:ext cx="594360" cy="594360"/>
          </a:xfrm>
          <a:prstGeom prst="rect">
            <a:avLst/>
          </a:prstGeom>
        </p:spPr>
      </p:pic>
      <p:sp>
        <p:nvSpPr>
          <p:cNvPr id="21" name="Text 15"/>
          <p:cNvSpPr txBox="1"/>
          <p:nvPr/>
        </p:nvSpPr>
        <p:spPr>
          <a:xfrm>
            <a:off x="9052560" y="3429000"/>
            <a:ext cx="2560320" cy="457200"/>
          </a:xfrm>
          <a:prstGeom prst="rect">
            <a:avLst/>
          </a:prstGeom>
          <a:noFill/>
          <a:ln/>
        </p:spPr>
        <p:txBody>
          <a:bodyPr wrap="square" rtlCol="0" anchor="ctr"/>
          <a:lstStyle/>
          <a:p>
            <a:pPr algn="ctr" indent="0" marL="0">
              <a:buNone/>
            </a:pPr>
            <a:r>
              <a:rPr lang="en-US" sz="1600" dirty="0">
                <a:solidFill>
                  <a:srgbClr val="607D8B"/>
                </a:solidFill>
                <a:latin typeface="Meiryo" pitchFamily="34" charset="0"/>
                <a:ea typeface="Meiryo" pitchFamily="34" charset="-122"/>
                <a:cs typeface="Meiryo" pitchFamily="34" charset="-120"/>
              </a:rPr>
              <a:t>方法</a:t>
            </a:r>
            <a:endParaRPr lang="en-US" sz="1600" dirty="0"/>
          </a:p>
        </p:txBody>
      </p:sp>
      <p:sp>
        <p:nvSpPr>
          <p:cNvPr id="22" name="Text 16"/>
          <p:cNvSpPr txBox="1"/>
          <p:nvPr/>
        </p:nvSpPr>
        <p:spPr>
          <a:xfrm>
            <a:off x="9144000" y="3886200"/>
            <a:ext cx="2377440" cy="731520"/>
          </a:xfrm>
          <a:prstGeom prst="rect">
            <a:avLst/>
          </a:prstGeom>
          <a:noFill/>
          <a:ln/>
        </p:spPr>
        <p:txBody>
          <a:bodyPr wrap="square" rtlCol="0" anchor="ctr"/>
          <a:lstStyle/>
          <a:p>
            <a:pPr algn="ctr" indent="0" marL="0">
              <a:buNone/>
            </a:pPr>
            <a:r>
              <a:rPr lang="en-US" sz="2000" b="1" dirty="0">
                <a:solidFill>
                  <a:srgbClr val="1F5A41"/>
                </a:solidFill>
                <a:latin typeface="Meiryo" pitchFamily="34" charset="0"/>
                <a:ea typeface="Meiryo" pitchFamily="34" charset="-122"/>
                <a:cs typeface="Meiryo" pitchFamily="34" charset="-120"/>
              </a:rPr>
              <a:t>Googleフォーム</a:t>
            </a:r>
            <a:endParaRPr lang="en-US" sz="2000" dirty="0"/>
          </a:p>
        </p:txBody>
      </p:sp>
      <p:sp>
        <p:nvSpPr>
          <p:cNvPr id="23" name="Text 17"/>
          <p:cNvSpPr txBox="1"/>
          <p:nvPr/>
        </p:nvSpPr>
        <p:spPr>
          <a:xfrm>
            <a:off x="548640" y="5486400"/>
            <a:ext cx="11064240" cy="457200"/>
          </a:xfrm>
          <a:prstGeom prst="rect">
            <a:avLst/>
          </a:prstGeom>
          <a:noFill/>
          <a:ln/>
        </p:spPr>
        <p:txBody>
          <a:bodyPr wrap="square" rtlCol="0" anchor="ctr"/>
          <a:lstStyle/>
          <a:p>
            <a:pPr indent="0" marL="0">
              <a:buNone/>
            </a:pPr>
            <a:r>
              <a:rPr lang="en-US" sz="1600" dirty="0">
                <a:solidFill>
                  <a:srgbClr val="263238"/>
                </a:solidFill>
                <a:latin typeface="Meiryo" pitchFamily="34" charset="0"/>
                <a:ea typeface="Meiryo" pitchFamily="34" charset="-122"/>
                <a:cs typeface="Meiryo" pitchFamily="34" charset="-120"/>
              </a:rPr>
              <a:t>質問：① ボランティアをしたことがあるか　② 参加した理由（自由記述）</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7D8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1F5A41"/>
                </a:solidFill>
              </a:rPr>
              <a:t>結果① 10人に7人が経験あり</a:t>
            </a:r>
            <a:endParaRPr lang="en-US" sz="3200" dirty="0"/>
          </a:p>
        </p:txBody>
      </p:sp>
      <p:graphicFrame>
        <p:nvGraphicFramePr>
          <p:cNvPr id="3" name="Chart 0" descr=""/>
          <p:cNvGraphicFramePr/>
          <p:nvPr/>
        </p:nvGraphicFramePr>
        <p:xfrm>
          <a:off x="548640" y="1371600"/>
          <a:ext cx="58521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949440" y="1737360"/>
            <a:ext cx="4572000" cy="1371600"/>
          </a:xfrm>
          <a:prstGeom prst="rect">
            <a:avLst/>
          </a:prstGeom>
          <a:noFill/>
          <a:ln/>
        </p:spPr>
        <p:txBody>
          <a:bodyPr wrap="square" lIns="0" tIns="0" rIns="0" bIns="0" rtlCol="0" anchor="ctr"/>
          <a:lstStyle/>
          <a:p>
            <a:pPr indent="0" marL="0">
              <a:buNone/>
            </a:pPr>
            <a:r>
              <a:rPr lang="en-US" sz="8000" b="1" dirty="0">
                <a:solidFill>
                  <a:srgbClr val="2E7D5B"/>
                </a:solidFill>
                <a:latin typeface="Meiryo" pitchFamily="34" charset="0"/>
                <a:ea typeface="Meiryo" pitchFamily="34" charset="-122"/>
                <a:cs typeface="Meiryo" pitchFamily="34" charset="-120"/>
              </a:rPr>
              <a:t>71%</a:t>
            </a:r>
            <a:endParaRPr lang="en-US" sz="8000" dirty="0"/>
          </a:p>
        </p:txBody>
      </p:sp>
      <p:sp>
        <p:nvSpPr>
          <p:cNvPr id="5" name="Text 2"/>
          <p:cNvSpPr txBox="1"/>
          <p:nvPr/>
        </p:nvSpPr>
        <p:spPr>
          <a:xfrm>
            <a:off x="6949440" y="3108960"/>
            <a:ext cx="4572000" cy="457200"/>
          </a:xfrm>
          <a:prstGeom prst="rect">
            <a:avLst/>
          </a:prstGeom>
          <a:noFill/>
          <a:ln/>
        </p:spPr>
        <p:txBody>
          <a:bodyPr wrap="square" lIns="0" tIns="0" rIns="0" bIns="0" rtlCol="0" anchor="ctr"/>
          <a:lstStyle/>
          <a:p>
            <a:pPr indent="0" marL="0">
              <a:buNone/>
            </a:pPr>
            <a:r>
              <a:rPr lang="en-US" sz="2000" dirty="0">
                <a:solidFill>
                  <a:srgbClr val="263238"/>
                </a:solidFill>
                <a:latin typeface="Meiryo" pitchFamily="34" charset="0"/>
                <a:ea typeface="Meiryo" pitchFamily="34" charset="-122"/>
                <a:cs typeface="Meiryo" pitchFamily="34" charset="-120"/>
              </a:rPr>
              <a:t>ボランティア経験「ある」</a:t>
            </a:r>
            <a:endParaRPr lang="en-US" sz="2000" dirty="0"/>
          </a:p>
        </p:txBody>
      </p:sp>
      <p:pic>
        <p:nvPicPr>
          <p:cNvPr id="6" name="Image 0" descr="preencoded.png">    </p:cNvPr>
          <p:cNvPicPr>
            <a:picLocks noChangeAspect="1"/>
          </p:cNvPicPr>
          <p:nvPr/>
        </p:nvPicPr>
        <p:blipFill>
          <a:blip r:embed="rId2"/>
          <a:stretch>
            <a:fillRect/>
          </a:stretch>
        </p:blipFill>
        <p:spPr>
          <a:xfrm>
            <a:off x="6949440" y="4023360"/>
            <a:ext cx="365760" cy="365760"/>
          </a:xfrm>
          <a:prstGeom prst="rect">
            <a:avLst/>
          </a:prstGeom>
        </p:spPr>
      </p:pic>
      <p:pic>
        <p:nvPicPr>
          <p:cNvPr id="7" name="Image 1" descr="preencoded.png">    </p:cNvPr>
          <p:cNvPicPr>
            <a:picLocks noChangeAspect="1"/>
          </p:cNvPicPr>
          <p:nvPr/>
        </p:nvPicPr>
        <p:blipFill>
          <a:blip r:embed="rId3"/>
          <a:stretch>
            <a:fillRect/>
          </a:stretch>
        </p:blipFill>
        <p:spPr>
          <a:xfrm>
            <a:off x="7388352" y="4023360"/>
            <a:ext cx="365760" cy="365760"/>
          </a:xfrm>
          <a:prstGeom prst="rect">
            <a:avLst/>
          </a:prstGeom>
        </p:spPr>
      </p:pic>
      <p:pic>
        <p:nvPicPr>
          <p:cNvPr id="8" name="Image 2" descr="preencoded.png">    </p:cNvPr>
          <p:cNvPicPr>
            <a:picLocks noChangeAspect="1"/>
          </p:cNvPicPr>
          <p:nvPr/>
        </p:nvPicPr>
        <p:blipFill>
          <a:blip r:embed="rId4"/>
          <a:stretch>
            <a:fillRect/>
          </a:stretch>
        </p:blipFill>
        <p:spPr>
          <a:xfrm>
            <a:off x="7827264" y="4023360"/>
            <a:ext cx="365760" cy="365760"/>
          </a:xfrm>
          <a:prstGeom prst="rect">
            <a:avLst/>
          </a:prstGeom>
        </p:spPr>
      </p:pic>
      <p:pic>
        <p:nvPicPr>
          <p:cNvPr id="9" name="Image 3" descr="preencoded.png">    </p:cNvPr>
          <p:cNvPicPr>
            <a:picLocks noChangeAspect="1"/>
          </p:cNvPicPr>
          <p:nvPr/>
        </p:nvPicPr>
        <p:blipFill>
          <a:blip r:embed="rId5"/>
          <a:stretch>
            <a:fillRect/>
          </a:stretch>
        </p:blipFill>
        <p:spPr>
          <a:xfrm>
            <a:off x="8266176" y="4023360"/>
            <a:ext cx="365760" cy="365760"/>
          </a:xfrm>
          <a:prstGeom prst="rect">
            <a:avLst/>
          </a:prstGeom>
        </p:spPr>
      </p:pic>
      <p:pic>
        <p:nvPicPr>
          <p:cNvPr id="10" name="Image 4" descr="preencoded.png">    </p:cNvPr>
          <p:cNvPicPr>
            <a:picLocks noChangeAspect="1"/>
          </p:cNvPicPr>
          <p:nvPr/>
        </p:nvPicPr>
        <p:blipFill>
          <a:blip r:embed="rId6"/>
          <a:stretch>
            <a:fillRect/>
          </a:stretch>
        </p:blipFill>
        <p:spPr>
          <a:xfrm>
            <a:off x="8705088" y="4023360"/>
            <a:ext cx="365760" cy="365760"/>
          </a:xfrm>
          <a:prstGeom prst="rect">
            <a:avLst/>
          </a:prstGeom>
        </p:spPr>
      </p:pic>
      <p:pic>
        <p:nvPicPr>
          <p:cNvPr id="11" name="Image 5" descr="preencoded.png">    </p:cNvPr>
          <p:cNvPicPr>
            <a:picLocks noChangeAspect="1"/>
          </p:cNvPicPr>
          <p:nvPr/>
        </p:nvPicPr>
        <p:blipFill>
          <a:blip r:embed="rId7"/>
          <a:stretch>
            <a:fillRect/>
          </a:stretch>
        </p:blipFill>
        <p:spPr>
          <a:xfrm>
            <a:off x="9144000" y="4023360"/>
            <a:ext cx="365760" cy="365760"/>
          </a:xfrm>
          <a:prstGeom prst="rect">
            <a:avLst/>
          </a:prstGeom>
        </p:spPr>
      </p:pic>
      <p:pic>
        <p:nvPicPr>
          <p:cNvPr id="12" name="Image 6" descr="preencoded.png">    </p:cNvPr>
          <p:cNvPicPr>
            <a:picLocks noChangeAspect="1"/>
          </p:cNvPicPr>
          <p:nvPr/>
        </p:nvPicPr>
        <p:blipFill>
          <a:blip r:embed="rId8"/>
          <a:stretch>
            <a:fillRect/>
          </a:stretch>
        </p:blipFill>
        <p:spPr>
          <a:xfrm>
            <a:off x="9582912" y="4023360"/>
            <a:ext cx="365760" cy="365760"/>
          </a:xfrm>
          <a:prstGeom prst="rect">
            <a:avLst/>
          </a:prstGeom>
        </p:spPr>
      </p:pic>
      <p:pic>
        <p:nvPicPr>
          <p:cNvPr id="13" name="Image 7" descr="preencoded.png">    </p:cNvPr>
          <p:cNvPicPr>
            <a:picLocks noChangeAspect="1"/>
          </p:cNvPicPr>
          <p:nvPr/>
        </p:nvPicPr>
        <p:blipFill>
          <a:blip r:embed="rId9"/>
          <a:stretch>
            <a:fillRect/>
          </a:stretch>
        </p:blipFill>
        <p:spPr>
          <a:xfrm>
            <a:off x="10021824" y="4023360"/>
            <a:ext cx="365760" cy="365760"/>
          </a:xfrm>
          <a:prstGeom prst="rect">
            <a:avLst/>
          </a:prstGeom>
        </p:spPr>
      </p:pic>
      <p:pic>
        <p:nvPicPr>
          <p:cNvPr id="14" name="Image 8" descr="preencoded.png">    </p:cNvPr>
          <p:cNvPicPr>
            <a:picLocks noChangeAspect="1"/>
          </p:cNvPicPr>
          <p:nvPr/>
        </p:nvPicPr>
        <p:blipFill>
          <a:blip r:embed="rId10"/>
          <a:stretch>
            <a:fillRect/>
          </a:stretch>
        </p:blipFill>
        <p:spPr>
          <a:xfrm>
            <a:off x="10460736" y="4023360"/>
            <a:ext cx="365760" cy="365760"/>
          </a:xfrm>
          <a:prstGeom prst="rect">
            <a:avLst/>
          </a:prstGeom>
        </p:spPr>
      </p:pic>
      <p:pic>
        <p:nvPicPr>
          <p:cNvPr id="15" name="Image 9" descr="preencoded.png">    </p:cNvPr>
          <p:cNvPicPr>
            <a:picLocks noChangeAspect="1"/>
          </p:cNvPicPr>
          <p:nvPr/>
        </p:nvPicPr>
        <p:blipFill>
          <a:blip r:embed="rId11"/>
          <a:stretch>
            <a:fillRect/>
          </a:stretch>
        </p:blipFill>
        <p:spPr>
          <a:xfrm>
            <a:off x="10899648" y="4023360"/>
            <a:ext cx="365760" cy="365760"/>
          </a:xfrm>
          <a:prstGeom prst="rect">
            <a:avLst/>
          </a:prstGeom>
        </p:spPr>
      </p:pic>
      <p:sp>
        <p:nvSpPr>
          <p:cNvPr id="16" name="Text 3"/>
          <p:cNvSpPr txBox="1"/>
          <p:nvPr/>
        </p:nvSpPr>
        <p:spPr>
          <a:xfrm>
            <a:off x="6949440" y="4572000"/>
            <a:ext cx="4572000" cy="457200"/>
          </a:xfrm>
          <a:prstGeom prst="rect">
            <a:avLst/>
          </a:prstGeom>
          <a:noFill/>
          <a:ln/>
        </p:spPr>
        <p:txBody>
          <a:bodyPr wrap="square" lIns="0" tIns="0" rIns="0" bIns="0" rtlCol="0" anchor="ctr"/>
          <a:lstStyle/>
          <a:p>
            <a:pPr indent="0" marL="0">
              <a:buNone/>
            </a:pPr>
            <a:r>
              <a:rPr lang="en-US" sz="1800" dirty="0">
                <a:solidFill>
                  <a:srgbClr val="607D8B"/>
                </a:solidFill>
                <a:latin typeface="Meiryo" pitchFamily="34" charset="0"/>
                <a:ea typeface="Meiryo" pitchFamily="34" charset="-122"/>
                <a:cs typeface="Meiryo" pitchFamily="34" charset="-120"/>
              </a:rPr>
              <a:t>20人 ／ 28人</a:t>
            </a:r>
            <a:endParaRPr lang="en-US" sz="1800" dirty="0"/>
          </a:p>
        </p:txBody>
      </p:sp>
      <p:sp>
        <p:nvSpPr>
          <p:cNvPr id="17" name="Text 4"/>
          <p:cNvSpPr txBox="1"/>
          <p:nvPr/>
        </p:nvSpPr>
        <p:spPr>
          <a:xfrm>
            <a:off x="548640" y="6263640"/>
            <a:ext cx="7315200" cy="320040"/>
          </a:xfrm>
          <a:prstGeom prst="rect">
            <a:avLst/>
          </a:prstGeom>
          <a:noFill/>
          <a:ln/>
        </p:spPr>
        <p:txBody>
          <a:bodyPr wrap="square" lIns="0" tIns="0" rIns="0" bIns="0" rtlCol="0" anchor="ctr"/>
          <a:lstStyle/>
          <a:p>
            <a:pPr indent="0" marL="0">
              <a:buNone/>
            </a:pPr>
            <a:r>
              <a:rPr lang="en-US" sz="1000" dirty="0">
                <a:solidFill>
                  <a:srgbClr val="607D8B"/>
                </a:solidFill>
                <a:latin typeface="Meiryo" pitchFamily="34" charset="0"/>
                <a:ea typeface="Meiryo" pitchFamily="34" charset="-122"/>
                <a:cs typeface="Meiryo" pitchFamily="34" charset="-120"/>
              </a:rPr>
              <a:t>出典：アンケート結果をもとに作成者がExcelで作成</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7D8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1F5A41"/>
                </a:solidFill>
              </a:rPr>
              <a:t>結果② 参加のきっかけはさまざま</a:t>
            </a:r>
            <a:endParaRPr lang="en-US" sz="3200" dirty="0"/>
          </a:p>
        </p:txBody>
      </p:sp>
      <p:graphicFrame>
        <p:nvGraphicFramePr>
          <p:cNvPr id="3" name="Chart 0" descr=""/>
          <p:cNvGraphicFramePr/>
          <p:nvPr/>
        </p:nvGraphicFramePr>
        <p:xfrm>
          <a:off x="548640" y="137160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463040"/>
            <a:ext cx="3840480" cy="457200"/>
          </a:xfrm>
          <a:prstGeom prst="rect">
            <a:avLst/>
          </a:prstGeom>
          <a:noFill/>
          <a:ln/>
        </p:spPr>
        <p:txBody>
          <a:bodyPr wrap="square" lIns="0" tIns="0" rIns="0" bIns="0" rtlCol="0" anchor="ctr"/>
          <a:lstStyle/>
          <a:p>
            <a:pPr indent="0" marL="0">
              <a:buNone/>
            </a:pPr>
            <a:r>
              <a:rPr lang="en-US" sz="1800" b="1" dirty="0">
                <a:solidFill>
                  <a:srgbClr val="1F5A41"/>
                </a:solidFill>
                <a:latin typeface="Meiryo" pitchFamily="34" charset="0"/>
                <a:ea typeface="Meiryo" pitchFamily="34" charset="-122"/>
                <a:cs typeface="Meiryo" pitchFamily="34" charset="-120"/>
              </a:rPr>
              <a:t>上位3つが同数（各5人）</a:t>
            </a:r>
            <a:endParaRPr lang="en-US" sz="1800" dirty="0"/>
          </a:p>
        </p:txBody>
      </p:sp>
      <p:sp>
        <p:nvSpPr>
          <p:cNvPr id="5" name="Shape 2"/>
          <p:cNvSpPr/>
          <p:nvPr/>
        </p:nvSpPr>
        <p:spPr>
          <a:xfrm>
            <a:off x="7863840" y="2194560"/>
            <a:ext cx="822960" cy="822960"/>
          </a:xfrm>
          <a:prstGeom prst="ellipse">
            <a:avLst/>
          </a:prstGeom>
          <a:solidFill>
            <a:srgbClr val="F2994A"/>
          </a:solidFill>
          <a:ln w="12700">
            <a:solidFill>
              <a:srgbClr val="F2994A"/>
            </a:solidFill>
            <a:prstDash val="solid"/>
          </a:ln>
        </p:spPr>
      </p:sp>
      <p:pic>
        <p:nvPicPr>
          <p:cNvPr id="6" name="Image 0" descr="preencoded.png">    </p:cNvPr>
          <p:cNvPicPr>
            <a:picLocks noChangeAspect="1"/>
          </p:cNvPicPr>
          <p:nvPr/>
        </p:nvPicPr>
        <p:blipFill>
          <a:blip r:embed="rId2"/>
          <a:stretch>
            <a:fillRect/>
          </a:stretch>
        </p:blipFill>
        <p:spPr>
          <a:xfrm>
            <a:off x="8069580" y="2400300"/>
            <a:ext cx="411480" cy="411480"/>
          </a:xfrm>
          <a:prstGeom prst="rect">
            <a:avLst/>
          </a:prstGeom>
        </p:spPr>
      </p:pic>
      <p:sp>
        <p:nvSpPr>
          <p:cNvPr id="7" name="Text 3"/>
          <p:cNvSpPr txBox="1"/>
          <p:nvPr/>
        </p:nvSpPr>
        <p:spPr>
          <a:xfrm>
            <a:off x="8869680" y="2194560"/>
            <a:ext cx="2926080" cy="411480"/>
          </a:xfrm>
          <a:prstGeom prst="rect">
            <a:avLst/>
          </a:prstGeom>
          <a:noFill/>
          <a:ln/>
        </p:spPr>
        <p:txBody>
          <a:bodyPr wrap="square" lIns="0" tIns="0" rIns="0" bIns="0" rtlCol="0" anchor="ctr"/>
          <a:lstStyle/>
          <a:p>
            <a:pPr indent="0" marL="0">
              <a:buNone/>
            </a:pPr>
            <a:r>
              <a:rPr lang="en-US" sz="1800" b="1" dirty="0">
                <a:solidFill>
                  <a:srgbClr val="263238"/>
                </a:solidFill>
                <a:latin typeface="Meiryo" pitchFamily="34" charset="0"/>
                <a:ea typeface="Meiryo" pitchFamily="34" charset="-122"/>
                <a:cs typeface="Meiryo" pitchFamily="34" charset="-120"/>
              </a:rPr>
              <a:t>部活動・チーム</a:t>
            </a:r>
            <a:endParaRPr lang="en-US" sz="1800" dirty="0"/>
          </a:p>
        </p:txBody>
      </p:sp>
      <p:sp>
        <p:nvSpPr>
          <p:cNvPr id="8" name="Text 4"/>
          <p:cNvSpPr txBox="1"/>
          <p:nvPr/>
        </p:nvSpPr>
        <p:spPr>
          <a:xfrm>
            <a:off x="8869680" y="2606040"/>
            <a:ext cx="2926080" cy="411480"/>
          </a:xfrm>
          <a:prstGeom prst="rect">
            <a:avLst/>
          </a:prstGeom>
          <a:noFill/>
          <a:ln/>
        </p:spPr>
        <p:txBody>
          <a:bodyPr wrap="square" lIns="0" tIns="0" rIns="0" bIns="0" rtlCol="0" anchor="ctr"/>
          <a:lstStyle/>
          <a:p>
            <a:pPr indent="0" marL="0">
              <a:buNone/>
            </a:pPr>
            <a:r>
              <a:rPr lang="en-US" sz="1400" dirty="0">
                <a:solidFill>
                  <a:srgbClr val="607D8B"/>
                </a:solidFill>
                <a:latin typeface="Meiryo" pitchFamily="34" charset="0"/>
                <a:ea typeface="Meiryo" pitchFamily="34" charset="-122"/>
                <a:cs typeface="Meiryo" pitchFamily="34" charset="-120"/>
              </a:rPr>
              <a:t>「部活動で参加」など</a:t>
            </a:r>
            <a:endParaRPr lang="en-US" sz="1400" dirty="0"/>
          </a:p>
        </p:txBody>
      </p:sp>
      <p:sp>
        <p:nvSpPr>
          <p:cNvPr id="9" name="Shape 5"/>
          <p:cNvSpPr/>
          <p:nvPr/>
        </p:nvSpPr>
        <p:spPr>
          <a:xfrm>
            <a:off x="7863840" y="3520440"/>
            <a:ext cx="822960" cy="822960"/>
          </a:xfrm>
          <a:prstGeom prst="ellipse">
            <a:avLst/>
          </a:prstGeom>
          <a:solidFill>
            <a:srgbClr val="F2994A"/>
          </a:solidFill>
          <a:ln w="12700">
            <a:solidFill>
              <a:srgbClr val="F2994A"/>
            </a:solidFill>
            <a:prstDash val="solid"/>
          </a:ln>
        </p:spPr>
      </p:sp>
      <p:pic>
        <p:nvPicPr>
          <p:cNvPr id="10" name="Image 1" descr="preencoded.png">    </p:cNvPr>
          <p:cNvPicPr>
            <a:picLocks noChangeAspect="1"/>
          </p:cNvPicPr>
          <p:nvPr/>
        </p:nvPicPr>
        <p:blipFill>
          <a:blip r:embed="rId3"/>
          <a:stretch>
            <a:fillRect/>
          </a:stretch>
        </p:blipFill>
        <p:spPr>
          <a:xfrm>
            <a:off x="8069580" y="3726180"/>
            <a:ext cx="411480" cy="411480"/>
          </a:xfrm>
          <a:prstGeom prst="rect">
            <a:avLst/>
          </a:prstGeom>
        </p:spPr>
      </p:pic>
      <p:sp>
        <p:nvSpPr>
          <p:cNvPr id="11" name="Text 6"/>
          <p:cNvSpPr txBox="1"/>
          <p:nvPr/>
        </p:nvSpPr>
        <p:spPr>
          <a:xfrm>
            <a:off x="8869680" y="3520440"/>
            <a:ext cx="2926080" cy="411480"/>
          </a:xfrm>
          <a:prstGeom prst="rect">
            <a:avLst/>
          </a:prstGeom>
          <a:noFill/>
          <a:ln/>
        </p:spPr>
        <p:txBody>
          <a:bodyPr wrap="square" lIns="0" tIns="0" rIns="0" bIns="0" rtlCol="0" anchor="ctr"/>
          <a:lstStyle/>
          <a:p>
            <a:pPr indent="0" marL="0">
              <a:buNone/>
            </a:pPr>
            <a:r>
              <a:rPr lang="en-US" sz="1800" b="1" dirty="0">
                <a:solidFill>
                  <a:srgbClr val="263238"/>
                </a:solidFill>
                <a:latin typeface="Meiryo" pitchFamily="34" charset="0"/>
                <a:ea typeface="Meiryo" pitchFamily="34" charset="-122"/>
                <a:cs typeface="Meiryo" pitchFamily="34" charset="-120"/>
              </a:rPr>
              <a:t>自分の成長・将来</a:t>
            </a:r>
            <a:endParaRPr lang="en-US" sz="1800" dirty="0"/>
          </a:p>
        </p:txBody>
      </p:sp>
      <p:sp>
        <p:nvSpPr>
          <p:cNvPr id="12" name="Text 7"/>
          <p:cNvSpPr txBox="1"/>
          <p:nvPr/>
        </p:nvSpPr>
        <p:spPr>
          <a:xfrm>
            <a:off x="8869680" y="3931920"/>
            <a:ext cx="2926080" cy="411480"/>
          </a:xfrm>
          <a:prstGeom prst="rect">
            <a:avLst/>
          </a:prstGeom>
          <a:noFill/>
          <a:ln/>
        </p:spPr>
        <p:txBody>
          <a:bodyPr wrap="square" lIns="0" tIns="0" rIns="0" bIns="0" rtlCol="0" anchor="ctr"/>
          <a:lstStyle/>
          <a:p>
            <a:pPr indent="0" marL="0">
              <a:buNone/>
            </a:pPr>
            <a:r>
              <a:rPr lang="en-US" sz="1400" dirty="0">
                <a:solidFill>
                  <a:srgbClr val="607D8B"/>
                </a:solidFill>
                <a:latin typeface="Meiryo" pitchFamily="34" charset="0"/>
                <a:ea typeface="Meiryo" pitchFamily="34" charset="-122"/>
                <a:cs typeface="Meiryo" pitchFamily="34" charset="-120"/>
              </a:rPr>
              <a:t>「履歴書に書ける」など</a:t>
            </a:r>
            <a:endParaRPr lang="en-US" sz="1400" dirty="0"/>
          </a:p>
        </p:txBody>
      </p:sp>
      <p:sp>
        <p:nvSpPr>
          <p:cNvPr id="13" name="Shape 8"/>
          <p:cNvSpPr/>
          <p:nvPr/>
        </p:nvSpPr>
        <p:spPr>
          <a:xfrm>
            <a:off x="7863840" y="4846320"/>
            <a:ext cx="822960" cy="822960"/>
          </a:xfrm>
          <a:prstGeom prst="ellipse">
            <a:avLst/>
          </a:prstGeom>
          <a:solidFill>
            <a:srgbClr val="F2994A"/>
          </a:solidFill>
          <a:ln w="12700">
            <a:solidFill>
              <a:srgbClr val="F2994A"/>
            </a:solidFill>
            <a:prstDash val="solid"/>
          </a:ln>
        </p:spPr>
      </p:sp>
      <p:pic>
        <p:nvPicPr>
          <p:cNvPr id="14" name="Image 2" descr="preencoded.png">    </p:cNvPr>
          <p:cNvPicPr>
            <a:picLocks noChangeAspect="1"/>
          </p:cNvPicPr>
          <p:nvPr/>
        </p:nvPicPr>
        <p:blipFill>
          <a:blip r:embed="rId4"/>
          <a:stretch>
            <a:fillRect/>
          </a:stretch>
        </p:blipFill>
        <p:spPr>
          <a:xfrm>
            <a:off x="8069580" y="5052060"/>
            <a:ext cx="411480" cy="411480"/>
          </a:xfrm>
          <a:prstGeom prst="rect">
            <a:avLst/>
          </a:prstGeom>
        </p:spPr>
      </p:pic>
      <p:sp>
        <p:nvSpPr>
          <p:cNvPr id="15" name="Text 9"/>
          <p:cNvSpPr txBox="1"/>
          <p:nvPr/>
        </p:nvSpPr>
        <p:spPr>
          <a:xfrm>
            <a:off x="8869680" y="4846320"/>
            <a:ext cx="2926080" cy="411480"/>
          </a:xfrm>
          <a:prstGeom prst="rect">
            <a:avLst/>
          </a:prstGeom>
          <a:noFill/>
          <a:ln/>
        </p:spPr>
        <p:txBody>
          <a:bodyPr wrap="square" lIns="0" tIns="0" rIns="0" bIns="0" rtlCol="0" anchor="ctr"/>
          <a:lstStyle/>
          <a:p>
            <a:pPr indent="0" marL="0">
              <a:buNone/>
            </a:pPr>
            <a:r>
              <a:rPr lang="en-US" sz="1800" b="1" dirty="0">
                <a:solidFill>
                  <a:srgbClr val="263238"/>
                </a:solidFill>
                <a:latin typeface="Meiryo" pitchFamily="34" charset="0"/>
                <a:ea typeface="Meiryo" pitchFamily="34" charset="-122"/>
                <a:cs typeface="Meiryo" pitchFamily="34" charset="-120"/>
              </a:rPr>
              <a:t>興味・関心</a:t>
            </a:r>
            <a:endParaRPr lang="en-US" sz="1800" dirty="0"/>
          </a:p>
        </p:txBody>
      </p:sp>
      <p:sp>
        <p:nvSpPr>
          <p:cNvPr id="16" name="Text 10"/>
          <p:cNvSpPr txBox="1"/>
          <p:nvPr/>
        </p:nvSpPr>
        <p:spPr>
          <a:xfrm>
            <a:off x="8869680" y="5257800"/>
            <a:ext cx="2926080" cy="411480"/>
          </a:xfrm>
          <a:prstGeom prst="rect">
            <a:avLst/>
          </a:prstGeom>
          <a:noFill/>
          <a:ln/>
        </p:spPr>
        <p:txBody>
          <a:bodyPr wrap="square" lIns="0" tIns="0" rIns="0" bIns="0" rtlCol="0" anchor="ctr"/>
          <a:lstStyle/>
          <a:p>
            <a:pPr indent="0" marL="0">
              <a:buNone/>
            </a:pPr>
            <a:r>
              <a:rPr lang="en-US" sz="1400" dirty="0">
                <a:solidFill>
                  <a:srgbClr val="607D8B"/>
                </a:solidFill>
                <a:latin typeface="Meiryo" pitchFamily="34" charset="0"/>
                <a:ea typeface="Meiryo" pitchFamily="34" charset="-122"/>
                <a:cs typeface="Meiryo" pitchFamily="34" charset="-120"/>
              </a:rPr>
              <a:t>「防災」「アジア大会」など</a:t>
            </a:r>
            <a:endParaRPr lang="en-US" sz="1400" dirty="0"/>
          </a:p>
        </p:txBody>
      </p:sp>
      <p:sp>
        <p:nvSpPr>
          <p:cNvPr id="17" name="Text 11"/>
          <p:cNvSpPr txBox="1"/>
          <p:nvPr/>
        </p:nvSpPr>
        <p:spPr>
          <a:xfrm>
            <a:off x="548640" y="6263640"/>
            <a:ext cx="7315200" cy="320040"/>
          </a:xfrm>
          <a:prstGeom prst="rect">
            <a:avLst/>
          </a:prstGeom>
          <a:noFill/>
          <a:ln/>
        </p:spPr>
        <p:txBody>
          <a:bodyPr wrap="square" lIns="0" tIns="0" rIns="0" bIns="0" rtlCol="0" anchor="ctr"/>
          <a:lstStyle/>
          <a:p>
            <a:pPr indent="0" marL="0">
              <a:buNone/>
            </a:pPr>
            <a:r>
              <a:rPr lang="en-US" sz="1000" dirty="0">
                <a:solidFill>
                  <a:srgbClr val="607D8B"/>
                </a:solidFill>
                <a:latin typeface="Meiryo" pitchFamily="34" charset="0"/>
                <a:ea typeface="Meiryo" pitchFamily="34" charset="-122"/>
                <a:cs typeface="Meiryo" pitchFamily="34" charset="-120"/>
              </a:rPr>
              <a:t>出典：アンケート結果をもとに作成者がExcelで作成</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7D8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1F5A41"/>
                </a:solidFill>
              </a:rPr>
              <a:t>全国の調査と比べると</a:t>
            </a:r>
            <a:endParaRPr lang="en-US" sz="3200" dirty="0"/>
          </a:p>
        </p:txBody>
      </p:sp>
      <p:sp>
        <p:nvSpPr>
          <p:cNvPr id="3" name="Shape 1"/>
          <p:cNvSpPr/>
          <p:nvPr/>
        </p:nvSpPr>
        <p:spPr>
          <a:xfrm>
            <a:off x="548640" y="1463040"/>
            <a:ext cx="5303520" cy="4206240"/>
          </a:xfrm>
          <a:prstGeom prst="roundRect">
            <a:avLst>
              <a:gd name="adj" fmla="val 3261"/>
            </a:avLst>
          </a:prstGeom>
          <a:solidFill>
            <a:srgbClr val="E6F0EA"/>
          </a:solidFill>
          <a:ln w="12700">
            <a:solidFill>
              <a:srgbClr val="E6F0EA"/>
            </a:solidFill>
            <a:prstDash val="solid"/>
          </a:ln>
        </p:spPr>
      </p:sp>
      <p:sp>
        <p:nvSpPr>
          <p:cNvPr id="4" name="Shape 2"/>
          <p:cNvSpPr/>
          <p:nvPr/>
        </p:nvSpPr>
        <p:spPr>
          <a:xfrm>
            <a:off x="914400" y="1737360"/>
            <a:ext cx="822960" cy="822960"/>
          </a:xfrm>
          <a:prstGeom prst="ellipse">
            <a:avLst/>
          </a:prstGeom>
          <a:solidFill>
            <a:srgbClr val="2E7D5B"/>
          </a:solidFill>
          <a:ln w="12700">
            <a:solidFill>
              <a:srgbClr val="2E7D5B"/>
            </a:solidFill>
            <a:prstDash val="solid"/>
          </a:ln>
        </p:spPr>
      </p:sp>
      <p:pic>
        <p:nvPicPr>
          <p:cNvPr id="5" name="Image 0" descr="preencoded.png">    </p:cNvPr>
          <p:cNvPicPr>
            <a:picLocks noChangeAspect="1"/>
          </p:cNvPicPr>
          <p:nvPr/>
        </p:nvPicPr>
        <p:blipFill>
          <a:blip r:embed="rId1"/>
          <a:stretch>
            <a:fillRect/>
          </a:stretch>
        </p:blipFill>
        <p:spPr>
          <a:xfrm>
            <a:off x="1120140" y="1943100"/>
            <a:ext cx="411480" cy="411480"/>
          </a:xfrm>
          <a:prstGeom prst="rect">
            <a:avLst/>
          </a:prstGeom>
        </p:spPr>
      </p:pic>
      <p:sp>
        <p:nvSpPr>
          <p:cNvPr id="6" name="Text 3"/>
          <p:cNvSpPr txBox="1"/>
          <p:nvPr/>
        </p:nvSpPr>
        <p:spPr>
          <a:xfrm>
            <a:off x="1920240" y="1737360"/>
            <a:ext cx="3749040" cy="822960"/>
          </a:xfrm>
          <a:prstGeom prst="rect">
            <a:avLst/>
          </a:prstGeom>
          <a:noFill/>
          <a:ln/>
        </p:spPr>
        <p:txBody>
          <a:bodyPr wrap="square" lIns="0" tIns="0" rIns="0" bIns="0" rtlCol="0" anchor="ctr"/>
          <a:lstStyle/>
          <a:p>
            <a:pPr indent="0" marL="0">
              <a:buNone/>
            </a:pPr>
            <a:r>
              <a:rPr lang="en-US" sz="2000" b="1" dirty="0">
                <a:solidFill>
                  <a:srgbClr val="1F5A41"/>
                </a:solidFill>
                <a:latin typeface="Meiryo" pitchFamily="34" charset="0"/>
                <a:ea typeface="Meiryo" pitchFamily="34" charset="-122"/>
                <a:cs typeface="Meiryo" pitchFamily="34" charset="-120"/>
              </a:rPr>
              <a:t>全国（内閣府調査）</a:t>
            </a:r>
            <a:endParaRPr lang="en-US" sz="2000" dirty="0"/>
          </a:p>
        </p:txBody>
      </p:sp>
      <p:sp>
        <p:nvSpPr>
          <p:cNvPr id="7" name="Text 4"/>
          <p:cNvSpPr txBox="1"/>
          <p:nvPr/>
        </p:nvSpPr>
        <p:spPr>
          <a:xfrm>
            <a:off x="914400" y="2926080"/>
            <a:ext cx="822960" cy="640080"/>
          </a:xfrm>
          <a:prstGeom prst="rect">
            <a:avLst/>
          </a:prstGeom>
          <a:noFill/>
          <a:ln/>
        </p:spPr>
        <p:txBody>
          <a:bodyPr wrap="square" lIns="0" tIns="0" rIns="0" bIns="0" rtlCol="0" anchor="ctr"/>
          <a:lstStyle/>
          <a:p>
            <a:pPr indent="0" marL="0">
              <a:buNone/>
            </a:pPr>
            <a:r>
              <a:rPr lang="en-US" sz="1800" b="1" dirty="0">
                <a:solidFill>
                  <a:srgbClr val="2E7D5B"/>
                </a:solidFill>
                <a:latin typeface="Meiryo" pitchFamily="34" charset="0"/>
                <a:ea typeface="Meiryo" pitchFamily="34" charset="-122"/>
                <a:cs typeface="Meiryo" pitchFamily="34" charset="-120"/>
              </a:rPr>
              <a:t>1位</a:t>
            </a:r>
            <a:endParaRPr lang="en-US" sz="1800" dirty="0"/>
          </a:p>
        </p:txBody>
      </p:sp>
      <p:sp>
        <p:nvSpPr>
          <p:cNvPr id="8" name="Text 5"/>
          <p:cNvSpPr txBox="1"/>
          <p:nvPr/>
        </p:nvSpPr>
        <p:spPr>
          <a:xfrm>
            <a:off x="1737360" y="2926080"/>
            <a:ext cx="2834640" cy="640080"/>
          </a:xfrm>
          <a:prstGeom prst="rect">
            <a:avLst/>
          </a:prstGeom>
          <a:noFill/>
          <a:ln/>
        </p:spPr>
        <p:txBody>
          <a:bodyPr wrap="square" lIns="0" tIns="0" rIns="0" bIns="0" rtlCol="0" anchor="ctr"/>
          <a:lstStyle/>
          <a:p>
            <a:pPr indent="0" marL="0">
              <a:buNone/>
            </a:pPr>
            <a:r>
              <a:rPr lang="en-US" sz="1500" dirty="0">
                <a:solidFill>
                  <a:srgbClr val="263238"/>
                </a:solidFill>
                <a:latin typeface="Meiryo" pitchFamily="34" charset="0"/>
                <a:ea typeface="Meiryo" pitchFamily="34" charset="-122"/>
                <a:cs typeface="Meiryo" pitchFamily="34" charset="-120"/>
              </a:rPr>
              <a:t>社会の役に立ちたい</a:t>
            </a:r>
            <a:endParaRPr lang="en-US" sz="1500" dirty="0"/>
          </a:p>
        </p:txBody>
      </p:sp>
      <p:sp>
        <p:nvSpPr>
          <p:cNvPr id="9" name="Text 6"/>
          <p:cNvSpPr txBox="1"/>
          <p:nvPr/>
        </p:nvSpPr>
        <p:spPr>
          <a:xfrm>
            <a:off x="4572000" y="2926080"/>
            <a:ext cx="1097280" cy="640080"/>
          </a:xfrm>
          <a:prstGeom prst="rect">
            <a:avLst/>
          </a:prstGeom>
          <a:noFill/>
          <a:ln/>
        </p:spPr>
        <p:txBody>
          <a:bodyPr wrap="square" lIns="0" tIns="0" rIns="0" bIns="0" rtlCol="0" anchor="ctr"/>
          <a:lstStyle/>
          <a:p>
            <a:pPr algn="r" indent="0" marL="0">
              <a:buNone/>
            </a:pPr>
            <a:r>
              <a:rPr lang="en-US" sz="1800" b="1" dirty="0">
                <a:solidFill>
                  <a:srgbClr val="2E7D5B"/>
                </a:solidFill>
                <a:latin typeface="Meiryo" pitchFamily="34" charset="0"/>
                <a:ea typeface="Meiryo" pitchFamily="34" charset="-122"/>
                <a:cs typeface="Meiryo" pitchFamily="34" charset="-120"/>
              </a:rPr>
              <a:t>59.1%</a:t>
            </a:r>
            <a:endParaRPr lang="en-US" sz="1800" dirty="0"/>
          </a:p>
        </p:txBody>
      </p:sp>
      <p:sp>
        <p:nvSpPr>
          <p:cNvPr id="10" name="Text 7"/>
          <p:cNvSpPr txBox="1"/>
          <p:nvPr/>
        </p:nvSpPr>
        <p:spPr>
          <a:xfrm>
            <a:off x="914400" y="3794760"/>
            <a:ext cx="822960" cy="640080"/>
          </a:xfrm>
          <a:prstGeom prst="rect">
            <a:avLst/>
          </a:prstGeom>
          <a:noFill/>
          <a:ln/>
        </p:spPr>
        <p:txBody>
          <a:bodyPr wrap="square" lIns="0" tIns="0" rIns="0" bIns="0" rtlCol="0" anchor="ctr"/>
          <a:lstStyle/>
          <a:p>
            <a:pPr indent="0" marL="0">
              <a:buNone/>
            </a:pPr>
            <a:r>
              <a:rPr lang="en-US" sz="1800" b="1" dirty="0">
                <a:solidFill>
                  <a:srgbClr val="2E7D5B"/>
                </a:solidFill>
                <a:latin typeface="Meiryo" pitchFamily="34" charset="0"/>
                <a:ea typeface="Meiryo" pitchFamily="34" charset="-122"/>
                <a:cs typeface="Meiryo" pitchFamily="34" charset="-120"/>
              </a:rPr>
              <a:t>2位</a:t>
            </a:r>
            <a:endParaRPr lang="en-US" sz="1800" dirty="0"/>
          </a:p>
        </p:txBody>
      </p:sp>
      <p:sp>
        <p:nvSpPr>
          <p:cNvPr id="11" name="Text 8"/>
          <p:cNvSpPr txBox="1"/>
          <p:nvPr/>
        </p:nvSpPr>
        <p:spPr>
          <a:xfrm>
            <a:off x="1737360" y="3794760"/>
            <a:ext cx="2834640" cy="640080"/>
          </a:xfrm>
          <a:prstGeom prst="rect">
            <a:avLst/>
          </a:prstGeom>
          <a:noFill/>
          <a:ln/>
        </p:spPr>
        <p:txBody>
          <a:bodyPr wrap="square" lIns="0" tIns="0" rIns="0" bIns="0" rtlCol="0" anchor="ctr"/>
          <a:lstStyle/>
          <a:p>
            <a:pPr indent="0" marL="0">
              <a:buNone/>
            </a:pPr>
            <a:r>
              <a:rPr lang="en-US" sz="1500" dirty="0">
                <a:solidFill>
                  <a:srgbClr val="263238"/>
                </a:solidFill>
                <a:latin typeface="Meiryo" pitchFamily="34" charset="0"/>
                <a:ea typeface="Meiryo" pitchFamily="34" charset="-122"/>
                <a:cs typeface="Meiryo" pitchFamily="34" charset="-120"/>
              </a:rPr>
              <a:t>自己啓発・自らの成長</a:t>
            </a:r>
            <a:endParaRPr lang="en-US" sz="1500" dirty="0"/>
          </a:p>
        </p:txBody>
      </p:sp>
      <p:sp>
        <p:nvSpPr>
          <p:cNvPr id="12" name="Text 9"/>
          <p:cNvSpPr txBox="1"/>
          <p:nvPr/>
        </p:nvSpPr>
        <p:spPr>
          <a:xfrm>
            <a:off x="4572000" y="3794760"/>
            <a:ext cx="1097280" cy="640080"/>
          </a:xfrm>
          <a:prstGeom prst="rect">
            <a:avLst/>
          </a:prstGeom>
          <a:noFill/>
          <a:ln/>
        </p:spPr>
        <p:txBody>
          <a:bodyPr wrap="square" lIns="0" tIns="0" rIns="0" bIns="0" rtlCol="0" anchor="ctr"/>
          <a:lstStyle/>
          <a:p>
            <a:pPr algn="r" indent="0" marL="0">
              <a:buNone/>
            </a:pPr>
            <a:r>
              <a:rPr lang="en-US" sz="1800" b="1" dirty="0">
                <a:solidFill>
                  <a:srgbClr val="2E7D5B"/>
                </a:solidFill>
                <a:latin typeface="Meiryo" pitchFamily="34" charset="0"/>
                <a:ea typeface="Meiryo" pitchFamily="34" charset="-122"/>
                <a:cs typeface="Meiryo" pitchFamily="34" charset="-120"/>
              </a:rPr>
              <a:t>34.3%</a:t>
            </a:r>
            <a:endParaRPr lang="en-US" sz="1800" dirty="0"/>
          </a:p>
        </p:txBody>
      </p:sp>
      <p:sp>
        <p:nvSpPr>
          <p:cNvPr id="13" name="Text 10"/>
          <p:cNvSpPr txBox="1"/>
          <p:nvPr/>
        </p:nvSpPr>
        <p:spPr>
          <a:xfrm>
            <a:off x="914400" y="4663440"/>
            <a:ext cx="822960" cy="640080"/>
          </a:xfrm>
          <a:prstGeom prst="rect">
            <a:avLst/>
          </a:prstGeom>
          <a:noFill/>
          <a:ln/>
        </p:spPr>
        <p:txBody>
          <a:bodyPr wrap="square" lIns="0" tIns="0" rIns="0" bIns="0" rtlCol="0" anchor="ctr"/>
          <a:lstStyle/>
          <a:p>
            <a:pPr indent="0" marL="0">
              <a:buNone/>
            </a:pPr>
            <a:r>
              <a:rPr lang="en-US" sz="1800" b="1" dirty="0">
                <a:solidFill>
                  <a:srgbClr val="2E7D5B"/>
                </a:solidFill>
                <a:latin typeface="Meiryo" pitchFamily="34" charset="0"/>
                <a:ea typeface="Meiryo" pitchFamily="34" charset="-122"/>
                <a:cs typeface="Meiryo" pitchFamily="34" charset="-120"/>
              </a:rPr>
              <a:t>3位</a:t>
            </a:r>
            <a:endParaRPr lang="en-US" sz="1800" dirty="0"/>
          </a:p>
        </p:txBody>
      </p:sp>
      <p:sp>
        <p:nvSpPr>
          <p:cNvPr id="14" name="Text 11"/>
          <p:cNvSpPr txBox="1"/>
          <p:nvPr/>
        </p:nvSpPr>
        <p:spPr>
          <a:xfrm>
            <a:off x="1737360" y="4663440"/>
            <a:ext cx="2834640" cy="640080"/>
          </a:xfrm>
          <a:prstGeom prst="rect">
            <a:avLst/>
          </a:prstGeom>
          <a:noFill/>
          <a:ln/>
        </p:spPr>
        <p:txBody>
          <a:bodyPr wrap="square" lIns="0" tIns="0" rIns="0" bIns="0" rtlCol="0" anchor="ctr"/>
          <a:lstStyle/>
          <a:p>
            <a:pPr indent="0" marL="0">
              <a:buNone/>
            </a:pPr>
            <a:r>
              <a:rPr lang="en-US" sz="1500" dirty="0">
                <a:solidFill>
                  <a:srgbClr val="263238"/>
                </a:solidFill>
                <a:latin typeface="Meiryo" pitchFamily="34" charset="0"/>
                <a:ea typeface="Meiryo" pitchFamily="34" charset="-122"/>
                <a:cs typeface="Meiryo" pitchFamily="34" charset="-120"/>
              </a:rPr>
              <a:t>自分や家族が関わる活動の支援</a:t>
            </a:r>
            <a:endParaRPr lang="en-US" sz="1500" dirty="0"/>
          </a:p>
        </p:txBody>
      </p:sp>
      <p:sp>
        <p:nvSpPr>
          <p:cNvPr id="15" name="Text 12"/>
          <p:cNvSpPr txBox="1"/>
          <p:nvPr/>
        </p:nvSpPr>
        <p:spPr>
          <a:xfrm>
            <a:off x="4572000" y="4663440"/>
            <a:ext cx="1097280" cy="640080"/>
          </a:xfrm>
          <a:prstGeom prst="rect">
            <a:avLst/>
          </a:prstGeom>
          <a:noFill/>
          <a:ln/>
        </p:spPr>
        <p:txBody>
          <a:bodyPr wrap="square" lIns="0" tIns="0" rIns="0" bIns="0" rtlCol="0" anchor="ctr"/>
          <a:lstStyle/>
          <a:p>
            <a:pPr algn="r" indent="0" marL="0">
              <a:buNone/>
            </a:pPr>
            <a:r>
              <a:rPr lang="en-US" sz="1800" b="1" dirty="0">
                <a:solidFill>
                  <a:srgbClr val="2E7D5B"/>
                </a:solidFill>
                <a:latin typeface="Meiryo" pitchFamily="34" charset="0"/>
                <a:ea typeface="Meiryo" pitchFamily="34" charset="-122"/>
                <a:cs typeface="Meiryo" pitchFamily="34" charset="-120"/>
              </a:rPr>
              <a:t>25.4%</a:t>
            </a:r>
            <a:endParaRPr lang="en-US" sz="1800" dirty="0"/>
          </a:p>
        </p:txBody>
      </p:sp>
      <p:sp>
        <p:nvSpPr>
          <p:cNvPr id="16" name="Shape 13"/>
          <p:cNvSpPr/>
          <p:nvPr/>
        </p:nvSpPr>
        <p:spPr>
          <a:xfrm>
            <a:off x="6309360" y="1463040"/>
            <a:ext cx="5303520" cy="4206240"/>
          </a:xfrm>
          <a:prstGeom prst="roundRect">
            <a:avLst>
              <a:gd name="adj" fmla="val 3261"/>
            </a:avLst>
          </a:prstGeom>
          <a:solidFill>
            <a:srgbClr val="E6F0EA"/>
          </a:solidFill>
          <a:ln w="12700">
            <a:solidFill>
              <a:srgbClr val="E6F0EA"/>
            </a:solidFill>
            <a:prstDash val="solid"/>
          </a:ln>
        </p:spPr>
      </p:sp>
      <p:sp>
        <p:nvSpPr>
          <p:cNvPr id="17" name="Shape 14"/>
          <p:cNvSpPr/>
          <p:nvPr/>
        </p:nvSpPr>
        <p:spPr>
          <a:xfrm>
            <a:off x="6675120" y="1737360"/>
            <a:ext cx="822960" cy="822960"/>
          </a:xfrm>
          <a:prstGeom prst="ellipse">
            <a:avLst/>
          </a:prstGeom>
          <a:solidFill>
            <a:srgbClr val="F2994A"/>
          </a:solidFill>
          <a:ln w="12700">
            <a:solidFill>
              <a:srgbClr val="F2994A"/>
            </a:solidFill>
            <a:prstDash val="solid"/>
          </a:ln>
        </p:spPr>
      </p:sp>
      <p:pic>
        <p:nvPicPr>
          <p:cNvPr id="18" name="Image 1" descr="preencoded.png">    </p:cNvPr>
          <p:cNvPicPr>
            <a:picLocks noChangeAspect="1"/>
          </p:cNvPicPr>
          <p:nvPr/>
        </p:nvPicPr>
        <p:blipFill>
          <a:blip r:embed="rId2"/>
          <a:stretch>
            <a:fillRect/>
          </a:stretch>
        </p:blipFill>
        <p:spPr>
          <a:xfrm>
            <a:off x="6880860" y="1943100"/>
            <a:ext cx="411480" cy="411480"/>
          </a:xfrm>
          <a:prstGeom prst="rect">
            <a:avLst/>
          </a:prstGeom>
        </p:spPr>
      </p:pic>
      <p:sp>
        <p:nvSpPr>
          <p:cNvPr id="19" name="Text 15"/>
          <p:cNvSpPr txBox="1"/>
          <p:nvPr/>
        </p:nvSpPr>
        <p:spPr>
          <a:xfrm>
            <a:off x="7680960" y="1737360"/>
            <a:ext cx="3749040" cy="822960"/>
          </a:xfrm>
          <a:prstGeom prst="rect">
            <a:avLst/>
          </a:prstGeom>
          <a:noFill/>
          <a:ln/>
        </p:spPr>
        <p:txBody>
          <a:bodyPr wrap="square" lIns="0" tIns="0" rIns="0" bIns="0" rtlCol="0" anchor="ctr"/>
          <a:lstStyle/>
          <a:p>
            <a:pPr indent="0" marL="0">
              <a:buNone/>
            </a:pPr>
            <a:r>
              <a:rPr lang="en-US" sz="2000" b="1" dirty="0">
                <a:solidFill>
                  <a:srgbClr val="1F5A41"/>
                </a:solidFill>
                <a:latin typeface="Meiryo" pitchFamily="34" charset="0"/>
                <a:ea typeface="Meiryo" pitchFamily="34" charset="-122"/>
                <a:cs typeface="Meiryo" pitchFamily="34" charset="-120"/>
              </a:rPr>
              <a:t>わたしたちのクラス</a:t>
            </a:r>
            <a:endParaRPr lang="en-US" sz="2000" dirty="0"/>
          </a:p>
        </p:txBody>
      </p:sp>
      <p:sp>
        <p:nvSpPr>
          <p:cNvPr id="20" name="Text 16"/>
          <p:cNvSpPr txBox="1"/>
          <p:nvPr/>
        </p:nvSpPr>
        <p:spPr>
          <a:xfrm>
            <a:off x="6675120" y="2926080"/>
            <a:ext cx="822960" cy="640080"/>
          </a:xfrm>
          <a:prstGeom prst="rect">
            <a:avLst/>
          </a:prstGeom>
          <a:noFill/>
          <a:ln/>
        </p:spPr>
        <p:txBody>
          <a:bodyPr wrap="square" lIns="0" tIns="0" rIns="0" bIns="0" rtlCol="0" anchor="ctr"/>
          <a:lstStyle/>
          <a:p>
            <a:pPr indent="0" marL="0">
              <a:buNone/>
            </a:pPr>
            <a:r>
              <a:rPr lang="en-US" sz="1800" b="1" dirty="0">
                <a:solidFill>
                  <a:srgbClr val="F2994A"/>
                </a:solidFill>
                <a:latin typeface="Meiryo" pitchFamily="34" charset="0"/>
                <a:ea typeface="Meiryo" pitchFamily="34" charset="-122"/>
                <a:cs typeface="Meiryo" pitchFamily="34" charset="-120"/>
              </a:rPr>
              <a:t>1位</a:t>
            </a:r>
            <a:endParaRPr lang="en-US" sz="1800" dirty="0"/>
          </a:p>
        </p:txBody>
      </p:sp>
      <p:sp>
        <p:nvSpPr>
          <p:cNvPr id="21" name="Text 17"/>
          <p:cNvSpPr txBox="1"/>
          <p:nvPr/>
        </p:nvSpPr>
        <p:spPr>
          <a:xfrm>
            <a:off x="7498080" y="2926080"/>
            <a:ext cx="2834640" cy="640080"/>
          </a:xfrm>
          <a:prstGeom prst="rect">
            <a:avLst/>
          </a:prstGeom>
          <a:noFill/>
          <a:ln/>
        </p:spPr>
        <p:txBody>
          <a:bodyPr wrap="square" lIns="0" tIns="0" rIns="0" bIns="0" rtlCol="0" anchor="ctr"/>
          <a:lstStyle/>
          <a:p>
            <a:pPr indent="0" marL="0">
              <a:buNone/>
            </a:pPr>
            <a:r>
              <a:rPr lang="en-US" sz="1500" dirty="0">
                <a:solidFill>
                  <a:srgbClr val="263238"/>
                </a:solidFill>
                <a:latin typeface="Meiryo" pitchFamily="34" charset="0"/>
                <a:ea typeface="Meiryo" pitchFamily="34" charset="-122"/>
                <a:cs typeface="Meiryo" pitchFamily="34" charset="-120"/>
              </a:rPr>
              <a:t>部活動・チームで</a:t>
            </a:r>
            <a:endParaRPr lang="en-US" sz="1500" dirty="0"/>
          </a:p>
        </p:txBody>
      </p:sp>
      <p:sp>
        <p:nvSpPr>
          <p:cNvPr id="22" name="Text 18"/>
          <p:cNvSpPr txBox="1"/>
          <p:nvPr/>
        </p:nvSpPr>
        <p:spPr>
          <a:xfrm>
            <a:off x="10332720" y="2926080"/>
            <a:ext cx="1097280" cy="640080"/>
          </a:xfrm>
          <a:prstGeom prst="rect">
            <a:avLst/>
          </a:prstGeom>
          <a:noFill/>
          <a:ln/>
        </p:spPr>
        <p:txBody>
          <a:bodyPr wrap="square" lIns="0" tIns="0" rIns="0" bIns="0" rtlCol="0" anchor="ctr"/>
          <a:lstStyle/>
          <a:p>
            <a:pPr algn="r" indent="0" marL="0">
              <a:buNone/>
            </a:pPr>
            <a:r>
              <a:rPr lang="en-US" sz="1800" b="1" dirty="0">
                <a:solidFill>
                  <a:srgbClr val="F2994A"/>
                </a:solidFill>
                <a:latin typeface="Meiryo" pitchFamily="34" charset="0"/>
                <a:ea typeface="Meiryo" pitchFamily="34" charset="-122"/>
                <a:cs typeface="Meiryo" pitchFamily="34" charset="-120"/>
              </a:rPr>
              <a:t>25%</a:t>
            </a:r>
            <a:endParaRPr lang="en-US" sz="1800" dirty="0"/>
          </a:p>
        </p:txBody>
      </p:sp>
      <p:sp>
        <p:nvSpPr>
          <p:cNvPr id="23" name="Text 19"/>
          <p:cNvSpPr txBox="1"/>
          <p:nvPr/>
        </p:nvSpPr>
        <p:spPr>
          <a:xfrm>
            <a:off x="6675120" y="3794760"/>
            <a:ext cx="822960" cy="640080"/>
          </a:xfrm>
          <a:prstGeom prst="rect">
            <a:avLst/>
          </a:prstGeom>
          <a:noFill/>
          <a:ln/>
        </p:spPr>
        <p:txBody>
          <a:bodyPr wrap="square" lIns="0" tIns="0" rIns="0" bIns="0" rtlCol="0" anchor="ctr"/>
          <a:lstStyle/>
          <a:p>
            <a:pPr indent="0" marL="0">
              <a:buNone/>
            </a:pPr>
            <a:r>
              <a:rPr lang="en-US" sz="1800" b="1" dirty="0">
                <a:solidFill>
                  <a:srgbClr val="F2994A"/>
                </a:solidFill>
                <a:latin typeface="Meiryo" pitchFamily="34" charset="0"/>
                <a:ea typeface="Meiryo" pitchFamily="34" charset="-122"/>
                <a:cs typeface="Meiryo" pitchFamily="34" charset="-120"/>
              </a:rPr>
              <a:t>1位</a:t>
            </a:r>
            <a:endParaRPr lang="en-US" sz="1800" dirty="0"/>
          </a:p>
        </p:txBody>
      </p:sp>
      <p:sp>
        <p:nvSpPr>
          <p:cNvPr id="24" name="Text 20"/>
          <p:cNvSpPr txBox="1"/>
          <p:nvPr/>
        </p:nvSpPr>
        <p:spPr>
          <a:xfrm>
            <a:off x="7498080" y="3794760"/>
            <a:ext cx="2834640" cy="640080"/>
          </a:xfrm>
          <a:prstGeom prst="rect">
            <a:avLst/>
          </a:prstGeom>
          <a:noFill/>
          <a:ln/>
        </p:spPr>
        <p:txBody>
          <a:bodyPr wrap="square" lIns="0" tIns="0" rIns="0" bIns="0" rtlCol="0" anchor="ctr"/>
          <a:lstStyle/>
          <a:p>
            <a:pPr indent="0" marL="0">
              <a:buNone/>
            </a:pPr>
            <a:r>
              <a:rPr lang="en-US" sz="1500" dirty="0">
                <a:solidFill>
                  <a:srgbClr val="263238"/>
                </a:solidFill>
                <a:latin typeface="Meiryo" pitchFamily="34" charset="0"/>
                <a:ea typeface="Meiryo" pitchFamily="34" charset="-122"/>
                <a:cs typeface="Meiryo" pitchFamily="34" charset="-120"/>
              </a:rPr>
              <a:t>自分の成長・将来</a:t>
            </a:r>
            <a:endParaRPr lang="en-US" sz="1500" dirty="0"/>
          </a:p>
        </p:txBody>
      </p:sp>
      <p:sp>
        <p:nvSpPr>
          <p:cNvPr id="25" name="Text 21"/>
          <p:cNvSpPr txBox="1"/>
          <p:nvPr/>
        </p:nvSpPr>
        <p:spPr>
          <a:xfrm>
            <a:off x="10332720" y="3794760"/>
            <a:ext cx="1097280" cy="640080"/>
          </a:xfrm>
          <a:prstGeom prst="rect">
            <a:avLst/>
          </a:prstGeom>
          <a:noFill/>
          <a:ln/>
        </p:spPr>
        <p:txBody>
          <a:bodyPr wrap="square" lIns="0" tIns="0" rIns="0" bIns="0" rtlCol="0" anchor="ctr"/>
          <a:lstStyle/>
          <a:p>
            <a:pPr algn="r" indent="0" marL="0">
              <a:buNone/>
            </a:pPr>
            <a:r>
              <a:rPr lang="en-US" sz="1800" b="1" dirty="0">
                <a:solidFill>
                  <a:srgbClr val="F2994A"/>
                </a:solidFill>
                <a:latin typeface="Meiryo" pitchFamily="34" charset="0"/>
                <a:ea typeface="Meiryo" pitchFamily="34" charset="-122"/>
                <a:cs typeface="Meiryo" pitchFamily="34" charset="-120"/>
              </a:rPr>
              <a:t>25%</a:t>
            </a:r>
            <a:endParaRPr lang="en-US" sz="1800" dirty="0"/>
          </a:p>
        </p:txBody>
      </p:sp>
      <p:sp>
        <p:nvSpPr>
          <p:cNvPr id="26" name="Text 22"/>
          <p:cNvSpPr txBox="1"/>
          <p:nvPr/>
        </p:nvSpPr>
        <p:spPr>
          <a:xfrm>
            <a:off x="6675120" y="4663440"/>
            <a:ext cx="822960" cy="640080"/>
          </a:xfrm>
          <a:prstGeom prst="rect">
            <a:avLst/>
          </a:prstGeom>
          <a:noFill/>
          <a:ln/>
        </p:spPr>
        <p:txBody>
          <a:bodyPr wrap="square" lIns="0" tIns="0" rIns="0" bIns="0" rtlCol="0" anchor="ctr"/>
          <a:lstStyle/>
          <a:p>
            <a:pPr indent="0" marL="0">
              <a:buNone/>
            </a:pPr>
            <a:r>
              <a:rPr lang="en-US" sz="1800" b="1" dirty="0">
                <a:solidFill>
                  <a:srgbClr val="F2994A"/>
                </a:solidFill>
                <a:latin typeface="Meiryo" pitchFamily="34" charset="0"/>
                <a:ea typeface="Meiryo" pitchFamily="34" charset="-122"/>
                <a:cs typeface="Meiryo" pitchFamily="34" charset="-120"/>
              </a:rPr>
              <a:t>1位</a:t>
            </a:r>
            <a:endParaRPr lang="en-US" sz="1800" dirty="0"/>
          </a:p>
        </p:txBody>
      </p:sp>
      <p:sp>
        <p:nvSpPr>
          <p:cNvPr id="27" name="Text 23"/>
          <p:cNvSpPr txBox="1"/>
          <p:nvPr/>
        </p:nvSpPr>
        <p:spPr>
          <a:xfrm>
            <a:off x="7498080" y="4663440"/>
            <a:ext cx="2834640" cy="640080"/>
          </a:xfrm>
          <a:prstGeom prst="rect">
            <a:avLst/>
          </a:prstGeom>
          <a:noFill/>
          <a:ln/>
        </p:spPr>
        <p:txBody>
          <a:bodyPr wrap="square" lIns="0" tIns="0" rIns="0" bIns="0" rtlCol="0" anchor="ctr"/>
          <a:lstStyle/>
          <a:p>
            <a:pPr indent="0" marL="0">
              <a:buNone/>
            </a:pPr>
            <a:r>
              <a:rPr lang="en-US" sz="1500" dirty="0">
                <a:solidFill>
                  <a:srgbClr val="263238"/>
                </a:solidFill>
                <a:latin typeface="Meiryo" pitchFamily="34" charset="0"/>
                <a:ea typeface="Meiryo" pitchFamily="34" charset="-122"/>
                <a:cs typeface="Meiryo" pitchFamily="34" charset="-120"/>
              </a:rPr>
              <a:t>興味・関心</a:t>
            </a:r>
            <a:endParaRPr lang="en-US" sz="1500" dirty="0"/>
          </a:p>
        </p:txBody>
      </p:sp>
      <p:sp>
        <p:nvSpPr>
          <p:cNvPr id="28" name="Text 24"/>
          <p:cNvSpPr txBox="1"/>
          <p:nvPr/>
        </p:nvSpPr>
        <p:spPr>
          <a:xfrm>
            <a:off x="10332720" y="4663440"/>
            <a:ext cx="1097280" cy="640080"/>
          </a:xfrm>
          <a:prstGeom prst="rect">
            <a:avLst/>
          </a:prstGeom>
          <a:noFill/>
          <a:ln/>
        </p:spPr>
        <p:txBody>
          <a:bodyPr wrap="square" lIns="0" tIns="0" rIns="0" bIns="0" rtlCol="0" anchor="ctr"/>
          <a:lstStyle/>
          <a:p>
            <a:pPr algn="r" indent="0" marL="0">
              <a:buNone/>
            </a:pPr>
            <a:r>
              <a:rPr lang="en-US" sz="1800" b="1" dirty="0">
                <a:solidFill>
                  <a:srgbClr val="F2994A"/>
                </a:solidFill>
                <a:latin typeface="Meiryo" pitchFamily="34" charset="0"/>
                <a:ea typeface="Meiryo" pitchFamily="34" charset="-122"/>
                <a:cs typeface="Meiryo" pitchFamily="34" charset="-120"/>
              </a:rPr>
              <a:t>25%</a:t>
            </a:r>
            <a:endParaRPr lang="en-US" sz="1800" dirty="0"/>
          </a:p>
        </p:txBody>
      </p:sp>
      <p:sp>
        <p:nvSpPr>
          <p:cNvPr id="29" name="Text 25"/>
          <p:cNvSpPr txBox="1"/>
          <p:nvPr/>
        </p:nvSpPr>
        <p:spPr>
          <a:xfrm>
            <a:off x="548640" y="5852160"/>
            <a:ext cx="11064240" cy="685800"/>
          </a:xfrm>
          <a:prstGeom prst="rect">
            <a:avLst/>
          </a:prstGeom>
          <a:noFill/>
          <a:ln/>
        </p:spPr>
        <p:txBody>
          <a:bodyPr wrap="square" lIns="0" tIns="0" rIns="0" bIns="0" rtlCol="0" anchor="ctr"/>
          <a:lstStyle/>
          <a:p>
            <a:pPr indent="0" marL="0">
              <a:buNone/>
            </a:pPr>
            <a:r>
              <a:rPr lang="en-US" sz="1000" dirty="0">
                <a:solidFill>
                  <a:srgbClr val="607D8B"/>
                </a:solidFill>
                <a:latin typeface="Meiryo" pitchFamily="34" charset="0"/>
                <a:ea typeface="Meiryo" pitchFamily="34" charset="-122"/>
                <a:cs typeface="Meiryo" pitchFamily="34" charset="-120"/>
              </a:rPr>
              <a:t>出典：内閣府「令和4年度 市民の社会貢献に関する実態調査」（2023年）https://www.npo-homepage.go.jp/toukei/shiminkouken-chousa（2026年10月27日閲覧）をもとに作成者が作成。全国は複数回答のため合計100%を超える。</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7D8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1064240" cy="822960"/>
          </a:xfrm>
          <a:prstGeom prst="rect">
            <a:avLst/>
          </a:prstGeom>
          <a:noFill/>
          <a:ln/>
        </p:spPr>
        <p:txBody>
          <a:bodyPr wrap="square" rtlCol="0" anchor="ctr"/>
          <a:lstStyle/>
          <a:p>
            <a:pPr algn="ctr" indent="0" marL="0">
              <a:buNone/>
            </a:pPr>
            <a:r>
              <a:rPr lang="en-US" sz="3600" b="1" dirty="0">
                <a:solidFill>
                  <a:srgbClr val="FFFFFF"/>
                </a:solidFill>
                <a:latin typeface="Meiryo" pitchFamily="34" charset="0"/>
                <a:ea typeface="Meiryo" pitchFamily="34" charset="-122"/>
                <a:cs typeface="Meiryo" pitchFamily="34" charset="-120"/>
              </a:rPr>
              <a:t>まとめ</a:t>
            </a:r>
            <a:endParaRPr lang="en-US" sz="3600" dirty="0"/>
          </a:p>
        </p:txBody>
      </p:sp>
      <p:sp>
        <p:nvSpPr>
          <p:cNvPr id="3" name="Shape 1"/>
          <p:cNvSpPr/>
          <p:nvPr/>
        </p:nvSpPr>
        <p:spPr>
          <a:xfrm>
            <a:off x="1737360" y="182880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2103120" y="2194560"/>
            <a:ext cx="731520" cy="731520"/>
          </a:xfrm>
          <a:prstGeom prst="rect">
            <a:avLst/>
          </a:prstGeom>
        </p:spPr>
      </p:pic>
      <p:sp>
        <p:nvSpPr>
          <p:cNvPr id="5" name="Text 2"/>
          <p:cNvSpPr txBox="1"/>
          <p:nvPr/>
        </p:nvSpPr>
        <p:spPr>
          <a:xfrm>
            <a:off x="822960" y="3657600"/>
            <a:ext cx="3291840" cy="548640"/>
          </a:xfrm>
          <a:prstGeom prst="rect">
            <a:avLst/>
          </a:prstGeom>
          <a:noFill/>
          <a:ln/>
        </p:spPr>
        <p:txBody>
          <a:bodyPr wrap="square"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身近な集団が</a:t>
            </a:r>
            <a:endParaRPr lang="en-US" sz="2400" dirty="0"/>
          </a:p>
        </p:txBody>
      </p:sp>
      <p:sp>
        <p:nvSpPr>
          <p:cNvPr id="6" name="Text 3"/>
          <p:cNvSpPr txBox="1"/>
          <p:nvPr/>
        </p:nvSpPr>
        <p:spPr>
          <a:xfrm>
            <a:off x="822960" y="4206240"/>
            <a:ext cx="3291840" cy="548640"/>
          </a:xfrm>
          <a:prstGeom prst="rect">
            <a:avLst/>
          </a:prstGeom>
          <a:noFill/>
          <a:ln/>
        </p:spPr>
        <p:txBody>
          <a:bodyPr wrap="square" rtlCol="0" anchor="ctr"/>
          <a:lstStyle/>
          <a:p>
            <a:pPr algn="ctr" indent="0" marL="0">
              <a:buNone/>
            </a:pPr>
            <a:r>
              <a:rPr lang="en-US" sz="2000" dirty="0">
                <a:solidFill>
                  <a:srgbClr val="CFE3D7"/>
                </a:solidFill>
                <a:latin typeface="Meiryo" pitchFamily="34" charset="0"/>
                <a:ea typeface="Meiryo" pitchFamily="34" charset="-122"/>
                <a:cs typeface="Meiryo" pitchFamily="34" charset="-120"/>
              </a:rPr>
              <a:t>きっかけに</a:t>
            </a:r>
            <a:endParaRPr lang="en-US" sz="2000" dirty="0"/>
          </a:p>
        </p:txBody>
      </p:sp>
      <p:sp>
        <p:nvSpPr>
          <p:cNvPr id="7" name="Shape 4"/>
          <p:cNvSpPr/>
          <p:nvPr/>
        </p:nvSpPr>
        <p:spPr>
          <a:xfrm>
            <a:off x="5394960" y="1828800"/>
            <a:ext cx="1463040" cy="1463040"/>
          </a:xfrm>
          <a:prstGeom prst="ellipse">
            <a:avLst/>
          </a:prstGeom>
          <a:solidFill>
            <a:srgbClr val="FFFFFF"/>
          </a:solidFill>
          <a:ln w="12700">
            <a:solidFill>
              <a:srgbClr val="FFFFFF"/>
            </a:solidFill>
            <a:prstDash val="solid"/>
          </a:ln>
        </p:spPr>
      </p:sp>
      <p:pic>
        <p:nvPicPr>
          <p:cNvPr id="8" name="Image 1" descr="preencoded.png">    </p:cNvPr>
          <p:cNvPicPr>
            <a:picLocks noChangeAspect="1"/>
          </p:cNvPicPr>
          <p:nvPr/>
        </p:nvPicPr>
        <p:blipFill>
          <a:blip r:embed="rId2"/>
          <a:stretch>
            <a:fillRect/>
          </a:stretch>
        </p:blipFill>
        <p:spPr>
          <a:xfrm>
            <a:off x="5760720" y="2194560"/>
            <a:ext cx="731520" cy="731520"/>
          </a:xfrm>
          <a:prstGeom prst="rect">
            <a:avLst/>
          </a:prstGeom>
        </p:spPr>
      </p:pic>
      <p:sp>
        <p:nvSpPr>
          <p:cNvPr id="9" name="Text 5"/>
          <p:cNvSpPr txBox="1"/>
          <p:nvPr/>
        </p:nvSpPr>
        <p:spPr>
          <a:xfrm>
            <a:off x="4480560" y="3657600"/>
            <a:ext cx="3291840" cy="548640"/>
          </a:xfrm>
          <a:prstGeom prst="rect">
            <a:avLst/>
          </a:prstGeom>
          <a:noFill/>
          <a:ln/>
        </p:spPr>
        <p:txBody>
          <a:bodyPr wrap="square"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自分のため</a:t>
            </a:r>
            <a:endParaRPr lang="en-US" sz="2400" dirty="0"/>
          </a:p>
        </p:txBody>
      </p:sp>
      <p:sp>
        <p:nvSpPr>
          <p:cNvPr id="10" name="Text 6"/>
          <p:cNvSpPr txBox="1"/>
          <p:nvPr/>
        </p:nvSpPr>
        <p:spPr>
          <a:xfrm>
            <a:off x="4480560" y="4206240"/>
            <a:ext cx="3291840" cy="548640"/>
          </a:xfrm>
          <a:prstGeom prst="rect">
            <a:avLst/>
          </a:prstGeom>
          <a:noFill/>
          <a:ln/>
        </p:spPr>
        <p:txBody>
          <a:bodyPr wrap="square" rtlCol="0" anchor="ctr"/>
          <a:lstStyle/>
          <a:p>
            <a:pPr algn="ctr" indent="0" marL="0">
              <a:buNone/>
            </a:pPr>
            <a:r>
              <a:rPr lang="en-US" sz="2000" dirty="0">
                <a:solidFill>
                  <a:srgbClr val="CFE3D7"/>
                </a:solidFill>
                <a:latin typeface="Meiryo" pitchFamily="34" charset="0"/>
                <a:ea typeface="Meiryo" pitchFamily="34" charset="-122"/>
                <a:cs typeface="Meiryo" pitchFamily="34" charset="-120"/>
              </a:rPr>
              <a:t>でもOK</a:t>
            </a:r>
            <a:endParaRPr lang="en-US" sz="2000" dirty="0"/>
          </a:p>
        </p:txBody>
      </p:sp>
      <p:sp>
        <p:nvSpPr>
          <p:cNvPr id="11" name="Shape 7"/>
          <p:cNvSpPr/>
          <p:nvPr/>
        </p:nvSpPr>
        <p:spPr>
          <a:xfrm>
            <a:off x="9052560" y="1828800"/>
            <a:ext cx="1463040" cy="1463040"/>
          </a:xfrm>
          <a:prstGeom prst="ellipse">
            <a:avLst/>
          </a:prstGeom>
          <a:solidFill>
            <a:srgbClr val="FFFFFF"/>
          </a:solidFill>
          <a:ln w="1270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9418320" y="2194560"/>
            <a:ext cx="731520" cy="731520"/>
          </a:xfrm>
          <a:prstGeom prst="rect">
            <a:avLst/>
          </a:prstGeom>
        </p:spPr>
      </p:pic>
      <p:sp>
        <p:nvSpPr>
          <p:cNvPr id="13" name="Text 8"/>
          <p:cNvSpPr txBox="1"/>
          <p:nvPr/>
        </p:nvSpPr>
        <p:spPr>
          <a:xfrm>
            <a:off x="8138160" y="3657600"/>
            <a:ext cx="3291840" cy="548640"/>
          </a:xfrm>
          <a:prstGeom prst="rect">
            <a:avLst/>
          </a:prstGeom>
          <a:noFill/>
          <a:ln/>
        </p:spPr>
        <p:txBody>
          <a:bodyPr wrap="square"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まずは興味から</a:t>
            </a:r>
            <a:endParaRPr lang="en-US" sz="2400" dirty="0"/>
          </a:p>
        </p:txBody>
      </p:sp>
      <p:sp>
        <p:nvSpPr>
          <p:cNvPr id="14" name="Text 9"/>
          <p:cNvSpPr txBox="1"/>
          <p:nvPr/>
        </p:nvSpPr>
        <p:spPr>
          <a:xfrm>
            <a:off x="8138160" y="4206240"/>
            <a:ext cx="3291840" cy="548640"/>
          </a:xfrm>
          <a:prstGeom prst="rect">
            <a:avLst/>
          </a:prstGeom>
          <a:noFill/>
          <a:ln/>
        </p:spPr>
        <p:txBody>
          <a:bodyPr wrap="square" rtlCol="0" anchor="ctr"/>
          <a:lstStyle/>
          <a:p>
            <a:pPr algn="ctr" indent="0" marL="0">
              <a:buNone/>
            </a:pPr>
            <a:r>
              <a:rPr lang="en-US" sz="2000" dirty="0">
                <a:solidFill>
                  <a:srgbClr val="CFE3D7"/>
                </a:solidFill>
                <a:latin typeface="Meiryo" pitchFamily="34" charset="0"/>
                <a:ea typeface="Meiryo" pitchFamily="34" charset="-122"/>
                <a:cs typeface="Meiryo" pitchFamily="34" charset="-120"/>
              </a:rPr>
              <a:t>参加してみよう</a:t>
            </a:r>
            <a:endParaRPr lang="en-US" sz="2000" dirty="0"/>
          </a:p>
        </p:txBody>
      </p:sp>
      <p:sp>
        <p:nvSpPr>
          <p:cNvPr id="15" name="Text 10"/>
          <p:cNvSpPr txBox="1"/>
          <p:nvPr/>
        </p:nvSpPr>
        <p:spPr>
          <a:xfrm>
            <a:off x="548640" y="5669280"/>
            <a:ext cx="11064240" cy="548640"/>
          </a:xfrm>
          <a:prstGeom prst="rect">
            <a:avLst/>
          </a:prstGeom>
          <a:noFill/>
          <a:ln/>
        </p:spPr>
        <p:txBody>
          <a:bodyPr wrap="square" rtlCol="0" anchor="ctr"/>
          <a:lstStyle/>
          <a:p>
            <a:pPr algn="ctr" indent="0" marL="0">
              <a:buNone/>
            </a:pPr>
            <a:r>
              <a:rPr lang="en-US" sz="1800" dirty="0">
                <a:solidFill>
                  <a:srgbClr val="CFE3D7"/>
                </a:solidFill>
                <a:latin typeface="Meiryo" pitchFamily="34" charset="0"/>
                <a:ea typeface="Meiryo" pitchFamily="34" charset="-122"/>
                <a:cs typeface="Meiryo" pitchFamily="34" charset="-120"/>
              </a:rPr>
              <a:t>ご清聴ありがとうございました</a:t>
            </a:r>
            <a:endParaRPr lang="en-US" sz="1800" dirty="0"/>
          </a:p>
        </p:txBody>
      </p:sp>
      <p:sp>
        <p:nvSpPr>
          <p:cNvPr id="17" name="Text 0"/>
          <p:cNvSpPr/>
          <p:nvPr>
            <p:ph idx="100" type="title" hasCustomPrompt="1"/>
          </p:nvPr>
        </p:nvSpPr>
        <p:spPr>
          <a:xfrm>
            <a:off x="731520" y="2011680"/>
            <a:ext cx="10698480" cy="1463040"/>
          </a:xfrm>
          <a:prstGeom prst="rect">
            <a:avLst/>
          </a:prstGeom>
          <a:noFill/>
          <a:ln/>
        </p:spPr>
        <p:txBody>
          <a:bodyPr wrap="square" rtlCol="0" anchor="ctr"/>
          <a:lstStyle/>
          <a:p>
            <a:pPr algn="ctr" indent="0" marL="0">
              <a:buNone/>
            </a:pPr>
            <a:endParaRPr lang="en-US" sz="4400" dirty="0"/>
          </a:p>
        </p:txBody>
      </p:sp>
    </p:spTree>
  </p:cSld>
  <p:clrMapOvr>
    <a:masterClrMapping/>
  </p:clrMapOvr>
</p:sld>
</file>

<file path=ppt/theme/theme1.xml><?xml version="1.0" encoding="utf-8"?>
<a:theme xmlns:a="http://schemas.openxmlformats.org/drawingml/2006/main" name="Volunteer">
  <a:themeElements>
    <a:clrScheme name="Volunteer">
      <a:dk1>
        <a:srgbClr val="263238"/>
      </a:dk1>
      <a:lt1>
        <a:srgbClr val="FFFFFF"/>
      </a:lt1>
      <a:dk2>
        <a:srgbClr val="1F5A41"/>
      </a:dk2>
      <a:lt2>
        <a:srgbClr val="E6F0EA"/>
      </a:lt2>
      <a:accent1>
        <a:srgbClr val="2E7D5B"/>
      </a:accent1>
      <a:accent2>
        <a:srgbClr val="F2994A"/>
      </a:accent2>
      <a:accent3>
        <a:srgbClr val="5DADE2"/>
      </a:accent3>
      <a:accent4>
        <a:srgbClr val="C8D6CE"/>
      </a:accent4>
      <a:accent5>
        <a:srgbClr val="F6C85F"/>
      </a:accent5>
      <a:accent6>
        <a:srgbClr val="8E7CC3"/>
      </a:accent6>
      <a:hlink>
        <a:srgbClr val="1565C0"/>
      </a:hlink>
      <a:folHlink>
        <a:srgbClr val="6A1B9A"/>
      </a:folHlink>
    </a:clrScheme>
    <a:fontScheme name="Volunteer">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なぜボランティアに参加するの？</dc:title>
  <dc:subject>PptxGenJS Presentation</dc:subject>
  <dc:creator>PptxGenJS</dc:creator>
  <cp:lastModifiedBy>PptxGenJS</cp:lastModifiedBy>
  <cp:revision>1</cp:revision>
  <dcterms:created xsi:type="dcterms:W3CDTF">2026-10-27T22:47:33Z</dcterms:created>
  <dcterms:modified xsi:type="dcterms:W3CDTF">2026-10-27T22:47:33Z</dcterms:modified>
</cp:coreProperties>
</file>