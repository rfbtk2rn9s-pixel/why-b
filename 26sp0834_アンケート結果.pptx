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9"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70"/>
  </p:normalViewPr>
  <p:slideViewPr>
    <p:cSldViewPr snapToGrid="0">
      <p:cViewPr varScale="1">
        <p:scale>
          <a:sx n="95" d="100"/>
          <a:sy n="95" d="100"/>
        </p:scale>
        <p:origin x="200" y="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600" b="1">
                <a:solidFill>
                  <a:srgbClr val="2F2F2F"/>
                </a:solidFill>
              </a:rPr>
              <a:t>ボランティアをしたことがある？（n=28）</a:t>
            </a:r>
          </a:p>
        </c:rich>
      </c:tx>
      <c:layout/>
      <c:overlay val="0"/>
    </c:title>
    <c:autoTitleDeleted val="0"/>
    <c:plotArea>
      <c:layout/>
      <c:doughnutChart>
        <c:varyColors/>
        <c:ser>
          <c:idx val="0"/>
          <c:order val="0"/>
          <c:tx>
            <c:strRef>
              <c:f>'集計'!$B$2</c:f>
              <c:strCache>
                <c:ptCount val="1"/>
                <c:pt idx="0">
                  <c:v>人数</c:v>
                </c:pt>
              </c:strCache>
            </c:strRef>
          </c:tx>
          <c:dPt>
            <c:idx val="0"/>
            <c:spPr>
              <a:solidFill>
                <a:srgbClr val="568A80"/>
              </a:solidFill>
            </c:spPr>
          </c:dPt>
          <c:dPt>
            <c:idx val="1"/>
            <c:spPr>
              <a:solidFill>
                <a:srgbClr val="DDD6CC"/>
              </a:solidFill>
            </c:spPr>
          </c:dPt>
          <c:cat>
            <c:strRef>
              <c:f>'集計'!$A$3:$A$4</c:f>
              <c:strCache>
                <c:ptCount val="2"/>
                <c:pt idx="0">
                  <c:v>ある</c:v>
                </c:pt>
                <c:pt idx="1">
                  <c:v>ない</c:v>
                </c:pt>
              </c:strCache>
            </c:strRef>
          </c:cat>
          <c:val>
            <c:numRef>
              <c:f>'集計'!$B$3:$B$4</c:f>
              <c:numCache>
                <c:formatCode>General</c:formatCode>
                <c:ptCount val="2"/>
                <c:pt idx="0">
                  <c:v>20</c:v>
                </c:pt>
                <c:pt idx="1">
                  <c:v>8</c:v>
                </c:pt>
              </c:numCache>
            </c:numRef>
          </c:val>
        </c:ser>
        <c:dLbls>
          <c:numFmt formatCode="0%" sourceLinked="0"/>
          <c:txPr>
            <a:bodyPr/>
            <a:lstStyle/>
            <a:p>
              <a:pPr>
                <a:defRPr sz="1600" b="1">
                  <a:solidFill>
                    <a:srgbClr val="2F2F2F"/>
                  </a:solidFill>
                </a:defRPr>
              </a:pPr>
            </a:p>
          </c:txPr>
          <c:showLegendKey val="0"/>
          <c:showVal val="0"/>
          <c:showCatName val="1"/>
          <c:showSerName val="0"/>
          <c:showPercent val="1"/>
          <c:showBubbleSize val="0"/>
          <c:showLeaderLines val="1"/>
        </c:dLbls>
        <c:firstSliceAng val="0"/>
        <c:holeSize val="55"/>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2F2F2F"/>
                </a:solidFill>
              </a:rPr>
              <a:t>ボランティアに参加した理由（n=20）</a:t>
            </a:r>
          </a:p>
        </c:rich>
      </c:tx>
      <c:layout/>
      <c:overlay val="0"/>
    </c:title>
    <c:autoTitleDeleted val="0"/>
    <c:plotArea>
      <c:barChart>
        <c:barDir val="bar"/>
        <c:grouping val="clustered"/>
        <c:ser>
          <c:idx val="0"/>
          <c:order val="0"/>
          <c:tx>
            <c:strRef>
              <c:f>'集計'!$B$9</c:f>
              <c:strCache>
                <c:ptCount val="1"/>
                <c:pt idx="0">
                  <c:v>人数</c:v>
                </c:pt>
              </c:strCache>
            </c:strRef>
          </c:tx>
          <c:spPr>
            <a:solidFill>
              <a:srgbClr val="D0805C"/>
            </a:solidFill>
          </c:spPr>
          <c:cat>
            <c:strRef>
              <c:f>'集計'!$A$10:$A$15</c:f>
              <c:strCache>
                <c:ptCount val="6"/>
                <c:pt idx="0">
                  <c:v>部活動・チームで</c:v>
                </c:pt>
                <c:pt idx="1">
                  <c:v>自分の成長・将来</c:v>
                </c:pt>
                <c:pt idx="2">
                  <c:v>興味・関心</c:v>
                </c:pt>
                <c:pt idx="3">
                  <c:v>人の役に立ちたい</c:v>
                </c:pt>
                <c:pt idx="4">
                  <c:v>家族・友人の影響</c:v>
                </c:pt>
                <c:pt idx="5">
                  <c:v>その他</c:v>
                </c:pt>
              </c:strCache>
            </c:strRef>
          </c:cat>
          <c:val>
            <c:numRef>
              <c:f>'集計'!$B$10:$B$15</c:f>
              <c:numCache>
                <c:formatCode>General</c:formatCode>
                <c:ptCount val="6"/>
                <c:pt idx="0">
                  <c:v>5</c:v>
                </c:pt>
                <c:pt idx="1">
                  <c:v>5</c:v>
                </c:pt>
                <c:pt idx="2">
                  <c:v>5</c:v>
                </c:pt>
                <c:pt idx="3">
                  <c:v>2</c:v>
                </c:pt>
                <c:pt idx="4">
                  <c:v>2</c:v>
                </c:pt>
                <c:pt idx="5">
                  <c:v>1</c:v>
                </c:pt>
              </c:numCache>
            </c:numRef>
          </c:val>
        </c:ser>
        <c:dLbls>
          <c:txPr>
            <a:bodyPr/>
            <a:lstStyle/>
            <a:p>
              <a:pPr>
                <a:defRPr sz="1600" b="1">
                  <a:solidFill>
                    <a:srgbClr val="2F2F2F"/>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DD6CC"/>
            </a:solidFill>
          </a:ln>
        </c:spPr>
        <c:txPr>
          <a:bodyPr/>
          <a:lstStyle/>
          <a:p>
            <a:pPr>
              <a:defRPr sz="1400">
                <a:solidFill>
                  <a:srgbClr val="2F2F2F"/>
                </a:solidFill>
              </a:defRPr>
            </a:pPr>
          </a:p>
        </c:txPr>
        <c:crossAx val="-2113994440"/>
        <c:crosses val="autoZero"/>
        <c:auto val="1"/>
        <c:lblAlgn val="ctr"/>
        <c:lblOffset val="100"/>
        <c:noMultiLvlLbl val="0"/>
      </c:catAx>
      <c:valAx>
        <c:axId val="-2113994440"/>
        <c:scaling>
          <c:max val="6.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ンケート結果①です。クラスの28人に「ボランティアをしたことがあるか」を聞きました。その結果、「ある」と答えた人は20人で、全体の約71パーセントでした。およそ10人に7人がボランティアを経験していることになります。思っていたよりも多くの人が、すでにボランティアに参加したことがあると分かりました。では、なぜボランティアに参加したのでしょうか。その理由はアンケート結果②で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ンケート結果②です。ボランティアをしたことがある20人に、参加した理由を自由に書いてもらい、内容ごとに6つに分けて集計しました。いちばん多かったのは「部活動やチームで参加した」「自分の成長や将来のため」「興味・関心があった」の3つで、それぞれ5人ずつでした。例えば「部活動で参加するよう言われた」「履歴書に書けるから」「アジア大会が身近な名古屋で開かれたから」といった回答がありました。一方で、「人の役に立ちたい」という理由は2人だけでした。つまり、無償のボランティアでも、きっかけは周りの人や自分のためという人が多いことが分かりました。このあと、なぜ無償でボランティアをするのかについて考えていき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ja-JP" altLang="en-US"/>
              <a:t>マスター タイトルの書式設定</a:t>
            </a:r>
            <a:endParaRPr lang="en-US"/>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kumimoji="1" lang="ja-JP" alt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489560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728062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ja-JP" altLang="en-US"/>
              <a:t>マスター タイトルの書式設定</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kumimoji="1" lang="ja-JP" alt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19740935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ja-JP" altLang="en-US"/>
              <a:t>マスター タイトルの書式設定</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kumimoji="1" lang="ja-JP" alt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194984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322197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ja-JP" altLang="en-US"/>
              <a:t>マスター タイトルの書式設定</a:t>
            </a:r>
            <a:endParaRPr lang="en-US"/>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kumimoji="1" lang="ja-JP" altLang="en-US"/>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04500945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セクション見出し">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kumimoji="1" lang="ja-JP" alt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646186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9307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325953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F4B40AA9-2F39-2544-B80B-98D629514C07}" type="datetimeFigureOut">
              <a:rPr kumimoji="1" lang="ja-JP" altLang="en-US" smtClean="0"/>
              <a:t>2026/10/21</a:t>
            </a:fld>
            <a:endParaRPr kumimoji="1" lang="ja-JP" alt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7030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24618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ja-JP" altLang="en-US"/>
              <a:t>マスター タイトルの書式設定</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976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868759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56D27AA-6F05-6840-8FC3-35126EA41C8D}" type="slidenum">
              <a:rPr kumimoji="1" lang="ja-JP" altLang="en-US" smtClean="0"/>
              <a:t>‹#›</a:t>
            </a:fld>
            <a:endParaRPr kumimoji="1" lang="ja-JP" alt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380602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56D27AA-6F05-6840-8FC3-35126EA41C8D}" type="slidenum">
              <a:rPr kumimoji="1" lang="ja-JP" altLang="en-US" smtClean="0"/>
              <a:t>‹#›</a:t>
            </a:fld>
            <a:endParaRPr kumimoji="1" lang="ja-JP" alt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53897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456D27AA-6F05-6840-8FC3-35126EA41C8D}" type="slidenum">
              <a:rPr kumimoji="1" lang="ja-JP" altLang="en-US" smtClean="0"/>
              <a:t>‹#›</a:t>
            </a:fld>
            <a:endParaRPr kumimoji="1" lang="ja-JP" alt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204960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ja-JP" altLang="en-US"/>
              <a:t>マスター タイトルの書式設定</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3514840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ja-JP" altLang="en-US"/>
              <a:t>マスター タイトルの書式設定</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55036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ja-JP" altLang="en-US"/>
              <a:t>マスター タイトルの書式設定</a:t>
            </a:r>
            <a:endParaRPr lang="en-US"/>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202155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456D27AA-6F05-6840-8FC3-35126EA41C8D}" type="slidenum">
              <a:rPr kumimoji="1" lang="ja-JP" altLang="en-US" smtClean="0"/>
              <a:t>‹#›</a:t>
            </a:fld>
            <a:endParaRPr kumimoji="1" lang="ja-JP" alt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969325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26567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kumimoji="1" lang="ja-JP" alt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479272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kumimoji="1" lang="ja-JP" alt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37168165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ja-JP" altLang="en-US"/>
              <a:t>マスター タイトルの書式設定</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kumimoji="1" lang="ja-JP" alt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3915303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kumimoji="1" lang="ja-JP" alt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F4B40AA9-2F39-2544-B80B-98D629514C07}" type="datetimeFigureOut">
              <a:rPr kumimoji="1" lang="ja-JP" altLang="en-US" smtClean="0"/>
              <a:t>2026/10/21</a:t>
            </a:fld>
            <a:endParaRPr kumimoji="1" lang="ja-JP" alt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197246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205746406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37474518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F4B40AA9-2F39-2544-B80B-98D629514C07}" type="datetimeFigureOut">
              <a:rPr kumimoji="1" lang="ja-JP" altLang="en-US" smtClean="0"/>
              <a:t>2026/10/21</a:t>
            </a:fld>
            <a:endParaRPr kumimoji="1" lang="ja-JP" alt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56D27AA-6F05-6840-8FC3-35126EA41C8D}" type="slidenum">
              <a:rPr kumimoji="1" lang="ja-JP" altLang="en-US" smtClean="0"/>
              <a:t>‹#›</a:t>
            </a:fld>
            <a:endParaRPr kumimoji="1" lang="ja-JP" altLang="en-US"/>
          </a:p>
        </p:txBody>
      </p:sp>
    </p:spTree>
    <p:extLst>
      <p:ext uri="{BB962C8B-B14F-4D97-AF65-F5344CB8AC3E}">
        <p14:creationId xmlns:p14="http://schemas.microsoft.com/office/powerpoint/2010/main" val="195426374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Lst>
  <p:txStyles>
    <p:titleStyle>
      <a:lvl1pPr algn="l" defTabSz="914400" rtl="0" eaLnBrk="1" latinLnBrk="0" hangingPunct="1">
        <a:lnSpc>
          <a:spcPct val="55000"/>
        </a:lnSpc>
        <a:spcBef>
          <a:spcPct val="0"/>
        </a:spcBef>
        <a:buNone/>
        <a:defRPr kumimoji="1"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kumimoji="1"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369037-CD9A-07A2-316B-3042CD21A390}"/>
              </a:ext>
            </a:extLst>
          </p:cNvPr>
          <p:cNvSpPr>
            <a:spLocks noGrp="1"/>
          </p:cNvSpPr>
          <p:nvPr>
            <p:ph type="title"/>
          </p:nvPr>
        </p:nvSpPr>
        <p:spPr/>
        <p:txBody>
          <a:bodyPr/>
          <a:lstStyle/>
          <a:p>
            <a:r>
              <a:t>アンケート結果①　7割が経験あり</a:t>
            </a:r>
          </a:p>
        </p:txBody>
      </p:sp>
      <p:graphicFrame>
        <p:nvGraphicFramePr>
          <p:cNvPr id="3" name="グラフ 2"/>
          <p:cNvGraphicFramePr>
            <a:graphicFrameLocks noGrp="1"/>
          </p:cNvGraphicFramePr>
          <p:nvPr/>
        </p:nvGraphicFramePr>
        <p:xfrm>
          <a:off x="704088" y="1554480"/>
          <a:ext cx="5486400" cy="4389120"/>
        </p:xfrm>
        <a:graphic>
          <a:graphicData uri="http://schemas.openxmlformats.org/drawingml/2006/chart">
            <c:chart xmlns:c="http://schemas.openxmlformats.org/drawingml/2006/chart" r:id="rId2"/>
          </a:graphicData>
        </a:graphic>
      </p:graphicFrame>
      <p:sp>
        <p:nvSpPr>
          <p:cNvPr id="4" name="テキスト ボックス 3"/>
          <p:cNvSpPr txBox="1"/>
          <p:nvPr/>
        </p:nvSpPr>
        <p:spPr>
          <a:xfrm>
            <a:off x="6858000" y="1737360"/>
            <a:ext cx="4572000" cy="1280160"/>
          </a:xfrm>
          <a:prstGeom prst="rect">
            <a:avLst/>
          </a:prstGeom>
          <a:noFill/>
        </p:spPr>
        <p:txBody>
          <a:bodyPr wrap="square" anchor="t" lIns="0" rIns="0" tIns="0" bIns="0">
            <a:spAutoFit/>
          </a:bodyPr>
          <a:lstStyle/>
          <a:p>
            <a:pPr algn="l"/>
            <a:r>
              <a:rPr sz="9600" b="1">
                <a:solidFill>
                  <a:srgbClr val="568A80"/>
                </a:solidFill>
              </a:rPr>
              <a:t>71%</a:t>
            </a:r>
          </a:p>
        </p:txBody>
      </p:sp>
      <p:sp>
        <p:nvSpPr>
          <p:cNvPr id="5" name="テキスト ボックス 4"/>
          <p:cNvSpPr txBox="1"/>
          <p:nvPr/>
        </p:nvSpPr>
        <p:spPr>
          <a:xfrm>
            <a:off x="6858000" y="3154680"/>
            <a:ext cx="4572000" cy="457200"/>
          </a:xfrm>
          <a:prstGeom prst="rect">
            <a:avLst/>
          </a:prstGeom>
          <a:noFill/>
        </p:spPr>
        <p:txBody>
          <a:bodyPr wrap="square" anchor="t" lIns="0" rIns="0" tIns="0" bIns="0">
            <a:spAutoFit/>
          </a:bodyPr>
          <a:lstStyle/>
          <a:p>
            <a:pPr algn="l"/>
            <a:r>
              <a:rPr sz="2200" b="1">
                <a:solidFill>
                  <a:srgbClr val="2F2F2F"/>
                </a:solidFill>
              </a:rPr>
              <a:t>ボランティア経験が「ある」</a:t>
            </a:r>
          </a:p>
        </p:txBody>
      </p:sp>
      <p:grpSp>
        <p:nvGrpSpPr>
          <p:cNvPr id="6" name="グループ化 5"/>
          <p:cNvGrpSpPr/>
          <p:nvPr/>
        </p:nvGrpSpPr>
        <p:grpSpPr>
          <a:xfrm>
            <a:off x="6896404" y="3931920"/>
            <a:ext cx="307238" cy="384048"/>
            <a:chOff x="6896404" y="3931920"/>
            <a:chExt cx="307238" cy="384048"/>
          </a:xfrm>
        </p:grpSpPr>
        <p:sp>
          <p:nvSpPr>
            <p:cNvPr id="7" name="楕円 6"/>
            <p:cNvSpPr/>
            <p:nvPr/>
          </p:nvSpPr>
          <p:spPr>
            <a:xfrm>
              <a:off x="69655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四角形: 上の 2 つの角を丸める 7"/>
            <p:cNvSpPr/>
            <p:nvPr/>
          </p:nvSpPr>
          <p:spPr>
            <a:xfrm>
              <a:off x="68964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9" name="グループ化 8"/>
          <p:cNvGrpSpPr/>
          <p:nvPr/>
        </p:nvGrpSpPr>
        <p:grpSpPr>
          <a:xfrm>
            <a:off x="7353604" y="3931920"/>
            <a:ext cx="307238" cy="384048"/>
            <a:chOff x="7353604" y="3931920"/>
            <a:chExt cx="307238" cy="384048"/>
          </a:xfrm>
        </p:grpSpPr>
        <p:sp>
          <p:nvSpPr>
            <p:cNvPr id="10" name="楕円 9"/>
            <p:cNvSpPr/>
            <p:nvPr/>
          </p:nvSpPr>
          <p:spPr>
            <a:xfrm>
              <a:off x="74227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四角形: 上の 2 つの角を丸める 10"/>
            <p:cNvSpPr/>
            <p:nvPr/>
          </p:nvSpPr>
          <p:spPr>
            <a:xfrm>
              <a:off x="73536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2" name="グループ化 11"/>
          <p:cNvGrpSpPr/>
          <p:nvPr/>
        </p:nvGrpSpPr>
        <p:grpSpPr>
          <a:xfrm>
            <a:off x="7810804" y="3931920"/>
            <a:ext cx="307238" cy="384048"/>
            <a:chOff x="7810804" y="3931920"/>
            <a:chExt cx="307238" cy="384048"/>
          </a:xfrm>
        </p:grpSpPr>
        <p:sp>
          <p:nvSpPr>
            <p:cNvPr id="13" name="楕円 12"/>
            <p:cNvSpPr/>
            <p:nvPr/>
          </p:nvSpPr>
          <p:spPr>
            <a:xfrm>
              <a:off x="78799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四角形: 上の 2 つの角を丸める 13"/>
            <p:cNvSpPr/>
            <p:nvPr/>
          </p:nvSpPr>
          <p:spPr>
            <a:xfrm>
              <a:off x="78108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5" name="グループ化 14"/>
          <p:cNvGrpSpPr/>
          <p:nvPr/>
        </p:nvGrpSpPr>
        <p:grpSpPr>
          <a:xfrm>
            <a:off x="8268004" y="3931920"/>
            <a:ext cx="307238" cy="384048"/>
            <a:chOff x="8268004" y="3931920"/>
            <a:chExt cx="307238" cy="384048"/>
          </a:xfrm>
        </p:grpSpPr>
        <p:sp>
          <p:nvSpPr>
            <p:cNvPr id="16" name="楕円 15"/>
            <p:cNvSpPr/>
            <p:nvPr/>
          </p:nvSpPr>
          <p:spPr>
            <a:xfrm>
              <a:off x="83371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四角形: 上の 2 つの角を丸める 16"/>
            <p:cNvSpPr/>
            <p:nvPr/>
          </p:nvSpPr>
          <p:spPr>
            <a:xfrm>
              <a:off x="82680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8" name="グループ化 17"/>
          <p:cNvGrpSpPr/>
          <p:nvPr/>
        </p:nvGrpSpPr>
        <p:grpSpPr>
          <a:xfrm>
            <a:off x="8725204" y="3931920"/>
            <a:ext cx="307238" cy="384048"/>
            <a:chOff x="8725204" y="3931920"/>
            <a:chExt cx="307238" cy="384048"/>
          </a:xfrm>
        </p:grpSpPr>
        <p:sp>
          <p:nvSpPr>
            <p:cNvPr id="19" name="楕円 18"/>
            <p:cNvSpPr/>
            <p:nvPr/>
          </p:nvSpPr>
          <p:spPr>
            <a:xfrm>
              <a:off x="87943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四角形: 上の 2 つの角を丸める 19"/>
            <p:cNvSpPr/>
            <p:nvPr/>
          </p:nvSpPr>
          <p:spPr>
            <a:xfrm>
              <a:off x="87252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21" name="グループ化 20"/>
          <p:cNvGrpSpPr/>
          <p:nvPr/>
        </p:nvGrpSpPr>
        <p:grpSpPr>
          <a:xfrm>
            <a:off x="9182404" y="3931920"/>
            <a:ext cx="307238" cy="384048"/>
            <a:chOff x="9182404" y="3931920"/>
            <a:chExt cx="307238" cy="384048"/>
          </a:xfrm>
        </p:grpSpPr>
        <p:sp>
          <p:nvSpPr>
            <p:cNvPr id="22" name="楕円 21"/>
            <p:cNvSpPr/>
            <p:nvPr/>
          </p:nvSpPr>
          <p:spPr>
            <a:xfrm>
              <a:off x="92515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四角形: 上の 2 つの角を丸める 22"/>
            <p:cNvSpPr/>
            <p:nvPr/>
          </p:nvSpPr>
          <p:spPr>
            <a:xfrm>
              <a:off x="91824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24" name="グループ化 23"/>
          <p:cNvGrpSpPr/>
          <p:nvPr/>
        </p:nvGrpSpPr>
        <p:grpSpPr>
          <a:xfrm>
            <a:off x="9639604" y="3931920"/>
            <a:ext cx="307238" cy="384048"/>
            <a:chOff x="9639604" y="3931920"/>
            <a:chExt cx="307238" cy="384048"/>
          </a:xfrm>
        </p:grpSpPr>
        <p:sp>
          <p:nvSpPr>
            <p:cNvPr id="25" name="楕円 24"/>
            <p:cNvSpPr/>
            <p:nvPr/>
          </p:nvSpPr>
          <p:spPr>
            <a:xfrm>
              <a:off x="9708733" y="3931920"/>
              <a:ext cx="168981" cy="168981"/>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四角形: 上の 2 つの角を丸める 25"/>
            <p:cNvSpPr/>
            <p:nvPr/>
          </p:nvSpPr>
          <p:spPr>
            <a:xfrm>
              <a:off x="9639604" y="4123944"/>
              <a:ext cx="307238" cy="192024"/>
            </a:xfrm>
            <a:prstGeom prst="round2SameRect">
              <a:avLst>
                <a:gd name="adj1" fmla="val 50000"/>
                <a:gd name="adj2" fmla="val 0"/>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27" name="グループ化 26"/>
          <p:cNvGrpSpPr/>
          <p:nvPr/>
        </p:nvGrpSpPr>
        <p:grpSpPr>
          <a:xfrm>
            <a:off x="10096804" y="3931920"/>
            <a:ext cx="307238" cy="384048"/>
            <a:chOff x="10096804" y="3931920"/>
            <a:chExt cx="307238" cy="384048"/>
          </a:xfrm>
        </p:grpSpPr>
        <p:sp>
          <p:nvSpPr>
            <p:cNvPr id="28" name="楕円 27"/>
            <p:cNvSpPr/>
            <p:nvPr/>
          </p:nvSpPr>
          <p:spPr>
            <a:xfrm>
              <a:off x="10165933" y="3931920"/>
              <a:ext cx="168981" cy="168981"/>
            </a:xfrm>
            <a:prstGeom prst="ellipse">
              <a:avLst/>
            </a:prstGeom>
            <a:solidFill>
              <a:srgbClr val="DD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四角形: 上の 2 つの角を丸める 28"/>
            <p:cNvSpPr/>
            <p:nvPr/>
          </p:nvSpPr>
          <p:spPr>
            <a:xfrm>
              <a:off x="10096804" y="4123944"/>
              <a:ext cx="307238" cy="192024"/>
            </a:xfrm>
            <a:prstGeom prst="round2SameRect">
              <a:avLst>
                <a:gd name="adj1" fmla="val 50000"/>
                <a:gd name="adj2" fmla="val 0"/>
              </a:avLst>
            </a:prstGeom>
            <a:solidFill>
              <a:srgbClr val="DD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0" name="グループ化 29"/>
          <p:cNvGrpSpPr/>
          <p:nvPr/>
        </p:nvGrpSpPr>
        <p:grpSpPr>
          <a:xfrm>
            <a:off x="10554004" y="3931920"/>
            <a:ext cx="307238" cy="384048"/>
            <a:chOff x="10554004" y="3931920"/>
            <a:chExt cx="307238" cy="384048"/>
          </a:xfrm>
        </p:grpSpPr>
        <p:sp>
          <p:nvSpPr>
            <p:cNvPr id="31" name="楕円 30"/>
            <p:cNvSpPr/>
            <p:nvPr/>
          </p:nvSpPr>
          <p:spPr>
            <a:xfrm>
              <a:off x="10623133" y="3931920"/>
              <a:ext cx="168981" cy="168981"/>
            </a:xfrm>
            <a:prstGeom prst="ellipse">
              <a:avLst/>
            </a:prstGeom>
            <a:solidFill>
              <a:srgbClr val="DD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四角形: 上の 2 つの角を丸める 31"/>
            <p:cNvSpPr/>
            <p:nvPr/>
          </p:nvSpPr>
          <p:spPr>
            <a:xfrm>
              <a:off x="10554004" y="4123944"/>
              <a:ext cx="307238" cy="192024"/>
            </a:xfrm>
            <a:prstGeom prst="round2SameRect">
              <a:avLst>
                <a:gd name="adj1" fmla="val 50000"/>
                <a:gd name="adj2" fmla="val 0"/>
              </a:avLst>
            </a:prstGeom>
            <a:solidFill>
              <a:srgbClr val="DD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3" name="グループ化 32"/>
          <p:cNvGrpSpPr/>
          <p:nvPr/>
        </p:nvGrpSpPr>
        <p:grpSpPr>
          <a:xfrm>
            <a:off x="11011204" y="3931920"/>
            <a:ext cx="307238" cy="384048"/>
            <a:chOff x="11011204" y="3931920"/>
            <a:chExt cx="307238" cy="384048"/>
          </a:xfrm>
        </p:grpSpPr>
        <p:sp>
          <p:nvSpPr>
            <p:cNvPr id="34" name="楕円 33"/>
            <p:cNvSpPr/>
            <p:nvPr/>
          </p:nvSpPr>
          <p:spPr>
            <a:xfrm>
              <a:off x="11080333" y="3931920"/>
              <a:ext cx="168981" cy="168981"/>
            </a:xfrm>
            <a:prstGeom prst="ellipse">
              <a:avLst/>
            </a:prstGeom>
            <a:solidFill>
              <a:srgbClr val="DD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四角形: 上の 2 つの角を丸める 34"/>
            <p:cNvSpPr/>
            <p:nvPr/>
          </p:nvSpPr>
          <p:spPr>
            <a:xfrm>
              <a:off x="11011204" y="4123944"/>
              <a:ext cx="307238" cy="192024"/>
            </a:xfrm>
            <a:prstGeom prst="round2SameRect">
              <a:avLst>
                <a:gd name="adj1" fmla="val 50000"/>
                <a:gd name="adj2" fmla="val 0"/>
              </a:avLst>
            </a:prstGeom>
            <a:solidFill>
              <a:srgbClr val="DDD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6" name="テキスト ボックス 35"/>
          <p:cNvSpPr txBox="1"/>
          <p:nvPr/>
        </p:nvSpPr>
        <p:spPr>
          <a:xfrm>
            <a:off x="6858000" y="4572000"/>
            <a:ext cx="4572000" cy="365760"/>
          </a:xfrm>
          <a:prstGeom prst="rect">
            <a:avLst/>
          </a:prstGeom>
          <a:noFill/>
        </p:spPr>
        <p:txBody>
          <a:bodyPr wrap="square" anchor="t" lIns="0" rIns="0" tIns="0" bIns="0">
            <a:spAutoFit/>
          </a:bodyPr>
          <a:lstStyle/>
          <a:p>
            <a:pPr algn="l"/>
            <a:r>
              <a:rPr sz="1800" b="0">
                <a:solidFill>
                  <a:srgbClr val="7A746C"/>
                </a:solidFill>
              </a:rPr>
              <a:t>28人中 20人 ＝ 約10人に7人</a:t>
            </a:r>
          </a:p>
        </p:txBody>
      </p:sp>
      <p:sp>
        <p:nvSpPr>
          <p:cNvPr id="37" name="テキスト ボックス 36"/>
          <p:cNvSpPr txBox="1"/>
          <p:nvPr/>
        </p:nvSpPr>
        <p:spPr>
          <a:xfrm>
            <a:off x="704088" y="5989320"/>
            <a:ext cx="7315200" cy="274320"/>
          </a:xfrm>
          <a:prstGeom prst="rect">
            <a:avLst/>
          </a:prstGeom>
          <a:noFill/>
        </p:spPr>
        <p:txBody>
          <a:bodyPr wrap="square" anchor="t" lIns="0" rIns="0" tIns="0" bIns="0">
            <a:spAutoFit/>
          </a:bodyPr>
          <a:lstStyle/>
          <a:p>
            <a:pPr algn="l"/>
            <a:r>
              <a:rPr sz="1000" b="0">
                <a:solidFill>
                  <a:srgbClr val="7A746C"/>
                </a:solidFill>
              </a:rPr>
              <a:t>出典：アンケート結果（2026年10月21日実施）をもとに作成者がExcelで作成</a:t>
            </a:r>
          </a:p>
        </p:txBody>
      </p:sp>
    </p:spTree>
    <p:extLst>
      <p:ext uri="{BB962C8B-B14F-4D97-AF65-F5344CB8AC3E}">
        <p14:creationId xmlns:p14="http://schemas.microsoft.com/office/powerpoint/2010/main" val="297203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285D5-A231-266B-0FAD-3DA1E4FF6E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272167-DCCE-D247-73F2-7E8347464C4A}"/>
              </a:ext>
            </a:extLst>
          </p:cNvPr>
          <p:cNvSpPr>
            <a:spLocks noGrp="1"/>
          </p:cNvSpPr>
          <p:nvPr>
            <p:ph type="title"/>
          </p:nvPr>
        </p:nvSpPr>
        <p:spPr/>
        <p:txBody>
          <a:bodyPr/>
          <a:lstStyle/>
          <a:p>
            <a:r>
              <a:t>アンケート結果②　参加のきっかけ</a:t>
            </a:r>
          </a:p>
        </p:txBody>
      </p:sp>
      <p:graphicFrame>
        <p:nvGraphicFramePr>
          <p:cNvPr id="3" name="グラフ 2"/>
          <p:cNvGraphicFramePr>
            <a:graphicFrameLocks noGrp="1"/>
          </p:cNvGraphicFramePr>
          <p:nvPr/>
        </p:nvGraphicFramePr>
        <p:xfrm>
          <a:off x="704088" y="1554480"/>
          <a:ext cx="6583680" cy="4389120"/>
        </p:xfrm>
        <a:graphic>
          <a:graphicData uri="http://schemas.openxmlformats.org/drawingml/2006/chart">
            <c:chart xmlns:c="http://schemas.openxmlformats.org/drawingml/2006/chart" r:id="rId2"/>
          </a:graphicData>
        </a:graphic>
      </p:graphicFrame>
      <p:sp>
        <p:nvSpPr>
          <p:cNvPr id="4" name="テキスト ボックス 3"/>
          <p:cNvSpPr txBox="1"/>
          <p:nvPr/>
        </p:nvSpPr>
        <p:spPr>
          <a:xfrm>
            <a:off x="7772400" y="1645920"/>
            <a:ext cx="3840480" cy="457200"/>
          </a:xfrm>
          <a:prstGeom prst="rect">
            <a:avLst/>
          </a:prstGeom>
          <a:noFill/>
        </p:spPr>
        <p:txBody>
          <a:bodyPr wrap="square" anchor="t" lIns="0" rIns="0" tIns="0" bIns="0">
            <a:spAutoFit/>
          </a:bodyPr>
          <a:lstStyle/>
          <a:p>
            <a:pPr algn="l"/>
            <a:r>
              <a:rPr sz="2000" b="1">
                <a:solidFill>
                  <a:srgbClr val="2F2F2F"/>
                </a:solidFill>
              </a:rPr>
              <a:t>上位3つが各5人</a:t>
            </a:r>
          </a:p>
        </p:txBody>
      </p:sp>
      <p:sp>
        <p:nvSpPr>
          <p:cNvPr id="5" name="楕円 4"/>
          <p:cNvSpPr/>
          <p:nvPr/>
        </p:nvSpPr>
        <p:spPr>
          <a:xfrm>
            <a:off x="7772400" y="2286000"/>
            <a:ext cx="777240" cy="777240"/>
          </a:xfrm>
          <a:prstGeom prst="ellipse">
            <a:avLst/>
          </a:prstGeom>
          <a:solidFill>
            <a:srgbClr val="D08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グループ化 5"/>
          <p:cNvGrpSpPr/>
          <p:nvPr/>
        </p:nvGrpSpPr>
        <p:grpSpPr>
          <a:xfrm>
            <a:off x="7826806" y="2456992"/>
            <a:ext cx="668426" cy="388620"/>
            <a:chOff x="7826806" y="2456992"/>
            <a:chExt cx="668426" cy="388620"/>
          </a:xfrm>
        </p:grpSpPr>
        <p:grpSp>
          <p:nvGrpSpPr>
            <p:cNvPr id="7" name="グループ化 6"/>
            <p:cNvGrpSpPr/>
            <p:nvPr/>
          </p:nvGrpSpPr>
          <p:grpSpPr>
            <a:xfrm>
              <a:off x="7826806" y="2503627"/>
              <a:ext cx="248716" cy="310896"/>
              <a:chOff x="7826806" y="2503627"/>
              <a:chExt cx="248716" cy="310896"/>
            </a:xfrm>
          </p:grpSpPr>
          <p:sp>
            <p:nvSpPr>
              <p:cNvPr id="8" name="楕円 7"/>
              <p:cNvSpPr/>
              <p:nvPr/>
            </p:nvSpPr>
            <p:spPr>
              <a:xfrm>
                <a:off x="7882768" y="2503627"/>
                <a:ext cx="136794" cy="136794"/>
              </a:xfrm>
              <a:prstGeom prst="ellipse">
                <a:avLst/>
              </a:prstGeom>
              <a:solidFill>
                <a:srgbClr val="FFFFFF"/>
              </a:solidFill>
              <a:ln w="19050">
                <a:solidFill>
                  <a:srgbClr val="D080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四角形: 上の 2 つの角を丸める 8"/>
              <p:cNvSpPr/>
              <p:nvPr/>
            </p:nvSpPr>
            <p:spPr>
              <a:xfrm>
                <a:off x="7826806" y="2659075"/>
                <a:ext cx="248716" cy="155448"/>
              </a:xfrm>
              <a:prstGeom prst="round2SameRect">
                <a:avLst>
                  <a:gd name="adj1" fmla="val 50000"/>
                  <a:gd name="adj2" fmla="val 0"/>
                </a:avLst>
              </a:prstGeom>
              <a:solidFill>
                <a:srgbClr val="FFFFFF"/>
              </a:solidFill>
              <a:ln w="19050">
                <a:solidFill>
                  <a:srgbClr val="D080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0" name="グループ化 9"/>
            <p:cNvGrpSpPr/>
            <p:nvPr/>
          </p:nvGrpSpPr>
          <p:grpSpPr>
            <a:xfrm>
              <a:off x="8246516" y="2503627"/>
              <a:ext cx="248716" cy="310896"/>
              <a:chOff x="8246516" y="2503627"/>
              <a:chExt cx="248716" cy="310896"/>
            </a:xfrm>
          </p:grpSpPr>
          <p:sp>
            <p:nvSpPr>
              <p:cNvPr id="11" name="楕円 10"/>
              <p:cNvSpPr/>
              <p:nvPr/>
            </p:nvSpPr>
            <p:spPr>
              <a:xfrm>
                <a:off x="8302477" y="2503627"/>
                <a:ext cx="136794" cy="136794"/>
              </a:xfrm>
              <a:prstGeom prst="ellipse">
                <a:avLst/>
              </a:prstGeom>
              <a:solidFill>
                <a:srgbClr val="FFFFFF"/>
              </a:solidFill>
              <a:ln w="19050">
                <a:solidFill>
                  <a:srgbClr val="D080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四角形: 上の 2 つの角を丸める 11"/>
              <p:cNvSpPr/>
              <p:nvPr/>
            </p:nvSpPr>
            <p:spPr>
              <a:xfrm>
                <a:off x="8246516" y="2659075"/>
                <a:ext cx="248716" cy="155448"/>
              </a:xfrm>
              <a:prstGeom prst="round2SameRect">
                <a:avLst>
                  <a:gd name="adj1" fmla="val 50000"/>
                  <a:gd name="adj2" fmla="val 0"/>
                </a:avLst>
              </a:prstGeom>
              <a:solidFill>
                <a:srgbClr val="FFFFFF"/>
              </a:solidFill>
              <a:ln w="19050">
                <a:solidFill>
                  <a:srgbClr val="D080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3" name="グループ化 12"/>
            <p:cNvGrpSpPr/>
            <p:nvPr/>
          </p:nvGrpSpPr>
          <p:grpSpPr>
            <a:xfrm>
              <a:off x="8005572" y="2456992"/>
              <a:ext cx="310896" cy="388620"/>
              <a:chOff x="8005572" y="2456992"/>
              <a:chExt cx="310896" cy="388620"/>
            </a:xfrm>
          </p:grpSpPr>
          <p:sp>
            <p:nvSpPr>
              <p:cNvPr id="14" name="楕円 13"/>
              <p:cNvSpPr/>
              <p:nvPr/>
            </p:nvSpPr>
            <p:spPr>
              <a:xfrm>
                <a:off x="8075523" y="2456992"/>
                <a:ext cx="170992" cy="170992"/>
              </a:xfrm>
              <a:prstGeom prst="ellipse">
                <a:avLst/>
              </a:prstGeom>
              <a:solidFill>
                <a:srgbClr val="FFFFFF"/>
              </a:solidFill>
              <a:ln w="19050">
                <a:solidFill>
                  <a:srgbClr val="D080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四角形: 上の 2 つの角を丸める 14"/>
              <p:cNvSpPr/>
              <p:nvPr/>
            </p:nvSpPr>
            <p:spPr>
              <a:xfrm>
                <a:off x="8005572" y="2651302"/>
                <a:ext cx="310896" cy="194310"/>
              </a:xfrm>
              <a:prstGeom prst="round2SameRect">
                <a:avLst>
                  <a:gd name="adj1" fmla="val 50000"/>
                  <a:gd name="adj2" fmla="val 0"/>
                </a:avLst>
              </a:prstGeom>
              <a:solidFill>
                <a:srgbClr val="FFFFFF"/>
              </a:solidFill>
              <a:ln w="19050">
                <a:solidFill>
                  <a:srgbClr val="D080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sp>
        <p:nvSpPr>
          <p:cNvPr id="16" name="テキスト ボックス 15"/>
          <p:cNvSpPr txBox="1"/>
          <p:nvPr/>
        </p:nvSpPr>
        <p:spPr>
          <a:xfrm>
            <a:off x="8732520" y="2304288"/>
            <a:ext cx="3017520" cy="411480"/>
          </a:xfrm>
          <a:prstGeom prst="rect">
            <a:avLst/>
          </a:prstGeom>
          <a:noFill/>
        </p:spPr>
        <p:txBody>
          <a:bodyPr wrap="square" anchor="t" lIns="0" rIns="0" tIns="0" bIns="0">
            <a:spAutoFit/>
          </a:bodyPr>
          <a:lstStyle/>
          <a:p>
            <a:pPr algn="l"/>
            <a:r>
              <a:rPr sz="1800" b="1">
                <a:solidFill>
                  <a:srgbClr val="2F2F2F"/>
                </a:solidFill>
              </a:rPr>
              <a:t>部活動・チームで</a:t>
            </a:r>
          </a:p>
        </p:txBody>
      </p:sp>
      <p:sp>
        <p:nvSpPr>
          <p:cNvPr id="17" name="テキスト ボックス 16"/>
          <p:cNvSpPr txBox="1"/>
          <p:nvPr/>
        </p:nvSpPr>
        <p:spPr>
          <a:xfrm>
            <a:off x="8732520" y="2715768"/>
            <a:ext cx="3017520" cy="365760"/>
          </a:xfrm>
          <a:prstGeom prst="rect">
            <a:avLst/>
          </a:prstGeom>
          <a:noFill/>
        </p:spPr>
        <p:txBody>
          <a:bodyPr wrap="square" anchor="t" lIns="0" rIns="0" tIns="0" bIns="0">
            <a:spAutoFit/>
          </a:bodyPr>
          <a:lstStyle/>
          <a:p>
            <a:pPr algn="l"/>
            <a:r>
              <a:rPr sz="1400" b="0">
                <a:solidFill>
                  <a:srgbClr val="7A746C"/>
                </a:solidFill>
              </a:rPr>
              <a:t>「部活動で参加した」</a:t>
            </a:r>
          </a:p>
        </p:txBody>
      </p:sp>
      <p:sp>
        <p:nvSpPr>
          <p:cNvPr id="18" name="楕円 17"/>
          <p:cNvSpPr/>
          <p:nvPr/>
        </p:nvSpPr>
        <p:spPr>
          <a:xfrm>
            <a:off x="7772400" y="3337560"/>
            <a:ext cx="777240" cy="777240"/>
          </a:xfrm>
          <a:prstGeom prst="ellipse">
            <a:avLst/>
          </a:prstGeom>
          <a:solidFill>
            <a:srgbClr val="56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矢印: 上 18"/>
          <p:cNvSpPr/>
          <p:nvPr/>
        </p:nvSpPr>
        <p:spPr>
          <a:xfrm>
            <a:off x="8005572" y="3477463"/>
            <a:ext cx="310896" cy="497433"/>
          </a:xfrm>
          <a:prstGeom prst="up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テキスト ボックス 19"/>
          <p:cNvSpPr txBox="1"/>
          <p:nvPr/>
        </p:nvSpPr>
        <p:spPr>
          <a:xfrm>
            <a:off x="8732520" y="3355848"/>
            <a:ext cx="3017520" cy="411480"/>
          </a:xfrm>
          <a:prstGeom prst="rect">
            <a:avLst/>
          </a:prstGeom>
          <a:noFill/>
        </p:spPr>
        <p:txBody>
          <a:bodyPr wrap="square" anchor="t" lIns="0" rIns="0" tIns="0" bIns="0">
            <a:spAutoFit/>
          </a:bodyPr>
          <a:lstStyle/>
          <a:p>
            <a:pPr algn="l"/>
            <a:r>
              <a:rPr sz="1800" b="1">
                <a:solidFill>
                  <a:srgbClr val="2F2F2F"/>
                </a:solidFill>
              </a:rPr>
              <a:t>自分の成長・将来</a:t>
            </a:r>
          </a:p>
        </p:txBody>
      </p:sp>
      <p:sp>
        <p:nvSpPr>
          <p:cNvPr id="21" name="テキスト ボックス 20"/>
          <p:cNvSpPr txBox="1"/>
          <p:nvPr/>
        </p:nvSpPr>
        <p:spPr>
          <a:xfrm>
            <a:off x="8732520" y="3767328"/>
            <a:ext cx="3017520" cy="365760"/>
          </a:xfrm>
          <a:prstGeom prst="rect">
            <a:avLst/>
          </a:prstGeom>
          <a:noFill/>
        </p:spPr>
        <p:txBody>
          <a:bodyPr wrap="square" anchor="t" lIns="0" rIns="0" tIns="0" bIns="0">
            <a:spAutoFit/>
          </a:bodyPr>
          <a:lstStyle/>
          <a:p>
            <a:pPr algn="l"/>
            <a:r>
              <a:rPr sz="1400" b="0">
                <a:solidFill>
                  <a:srgbClr val="7A746C"/>
                </a:solidFill>
              </a:rPr>
              <a:t>「履歴書に書ける」</a:t>
            </a:r>
          </a:p>
        </p:txBody>
      </p:sp>
      <p:sp>
        <p:nvSpPr>
          <p:cNvPr id="22" name="楕円 21"/>
          <p:cNvSpPr/>
          <p:nvPr/>
        </p:nvSpPr>
        <p:spPr>
          <a:xfrm>
            <a:off x="7772400" y="4389120"/>
            <a:ext cx="777240" cy="777240"/>
          </a:xfrm>
          <a:prstGeom prst="ellipse">
            <a:avLst/>
          </a:prstGeom>
          <a:solidFill>
            <a:srgbClr val="CD9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3" name="グループ化 22"/>
          <p:cNvGrpSpPr/>
          <p:nvPr/>
        </p:nvGrpSpPr>
        <p:grpSpPr>
          <a:xfrm>
            <a:off x="8005572" y="4513478"/>
            <a:ext cx="310896" cy="489661"/>
            <a:chOff x="8005572" y="4513478"/>
            <a:chExt cx="310896" cy="489661"/>
          </a:xfrm>
        </p:grpSpPr>
        <p:sp>
          <p:nvSpPr>
            <p:cNvPr id="24" name="楕円 23"/>
            <p:cNvSpPr/>
            <p:nvPr/>
          </p:nvSpPr>
          <p:spPr>
            <a:xfrm>
              <a:off x="8005572" y="4513478"/>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正方形/長方形 24"/>
            <p:cNvSpPr/>
            <p:nvPr/>
          </p:nvSpPr>
          <p:spPr>
            <a:xfrm>
              <a:off x="8083296" y="4793284"/>
              <a:ext cx="155448" cy="10881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四角形: 角を丸くする 25"/>
            <p:cNvSpPr/>
            <p:nvPr/>
          </p:nvSpPr>
          <p:spPr>
            <a:xfrm>
              <a:off x="8091068" y="4925415"/>
              <a:ext cx="139903" cy="777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7" name="テキスト ボックス 26"/>
          <p:cNvSpPr txBox="1"/>
          <p:nvPr/>
        </p:nvSpPr>
        <p:spPr>
          <a:xfrm>
            <a:off x="8732520" y="4407407"/>
            <a:ext cx="3017520" cy="411480"/>
          </a:xfrm>
          <a:prstGeom prst="rect">
            <a:avLst/>
          </a:prstGeom>
          <a:noFill/>
        </p:spPr>
        <p:txBody>
          <a:bodyPr wrap="square" anchor="t" lIns="0" rIns="0" tIns="0" bIns="0">
            <a:spAutoFit/>
          </a:bodyPr>
          <a:lstStyle/>
          <a:p>
            <a:pPr algn="l"/>
            <a:r>
              <a:rPr sz="1800" b="1">
                <a:solidFill>
                  <a:srgbClr val="2F2F2F"/>
                </a:solidFill>
              </a:rPr>
              <a:t>興味・関心</a:t>
            </a:r>
          </a:p>
        </p:txBody>
      </p:sp>
      <p:sp>
        <p:nvSpPr>
          <p:cNvPr id="28" name="テキスト ボックス 27"/>
          <p:cNvSpPr txBox="1"/>
          <p:nvPr/>
        </p:nvSpPr>
        <p:spPr>
          <a:xfrm>
            <a:off x="8732520" y="4818888"/>
            <a:ext cx="3017520" cy="365760"/>
          </a:xfrm>
          <a:prstGeom prst="rect">
            <a:avLst/>
          </a:prstGeom>
          <a:noFill/>
        </p:spPr>
        <p:txBody>
          <a:bodyPr wrap="square" anchor="t" lIns="0" rIns="0" tIns="0" bIns="0">
            <a:spAutoFit/>
          </a:bodyPr>
          <a:lstStyle/>
          <a:p>
            <a:pPr algn="l"/>
            <a:r>
              <a:rPr sz="1400" b="0">
                <a:solidFill>
                  <a:srgbClr val="7A746C"/>
                </a:solidFill>
              </a:rPr>
              <a:t>「防災」「アジア大会」</a:t>
            </a:r>
          </a:p>
        </p:txBody>
      </p:sp>
      <p:sp>
        <p:nvSpPr>
          <p:cNvPr id="29" name="四角形: 角を丸くする 28"/>
          <p:cNvSpPr/>
          <p:nvPr/>
        </p:nvSpPr>
        <p:spPr>
          <a:xfrm>
            <a:off x="7772400" y="5486400"/>
            <a:ext cx="3931920" cy="685800"/>
          </a:xfrm>
          <a:prstGeom prst="roundRect">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D0805C"/>
                </a:solidFill>
              </a:rPr>
              <a:t>「人の役に立ちたい」は 2人だけ</a:t>
            </a:r>
          </a:p>
        </p:txBody>
      </p:sp>
      <p:sp>
        <p:nvSpPr>
          <p:cNvPr id="30" name="テキスト ボックス 29"/>
          <p:cNvSpPr txBox="1"/>
          <p:nvPr/>
        </p:nvSpPr>
        <p:spPr>
          <a:xfrm>
            <a:off x="704088" y="5989320"/>
            <a:ext cx="7315200" cy="274320"/>
          </a:xfrm>
          <a:prstGeom prst="rect">
            <a:avLst/>
          </a:prstGeom>
          <a:noFill/>
        </p:spPr>
        <p:txBody>
          <a:bodyPr wrap="square" anchor="t" lIns="0" rIns="0" tIns="0" bIns="0">
            <a:spAutoFit/>
          </a:bodyPr>
          <a:lstStyle/>
          <a:p>
            <a:pPr algn="l"/>
            <a:r>
              <a:rPr sz="1000" b="0">
                <a:solidFill>
                  <a:srgbClr val="7A746C"/>
                </a:solidFill>
              </a:rPr>
              <a:t>出典：アンケート結果（2026年10月21日実施）をもとに作成者がExcelで作成</a:t>
            </a:r>
          </a:p>
        </p:txBody>
      </p:sp>
    </p:spTree>
    <p:extLst>
      <p:ext uri="{BB962C8B-B14F-4D97-AF65-F5344CB8AC3E}">
        <p14:creationId xmlns:p14="http://schemas.microsoft.com/office/powerpoint/2010/main" val="3659907339"/>
      </p:ext>
    </p:extLst>
  </p:cSld>
  <p:clrMapOvr>
    <a:masterClrMapping/>
  </p:clrMapOvr>
</p:sld>
</file>

<file path=ppt/theme/theme1.xml><?xml version="1.0" encoding="utf-8"?>
<a:theme xmlns:a="http://schemas.openxmlformats.org/drawingml/2006/main" name="スクール デイズ">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School Days</Template>
  <TotalTime>57</TotalTime>
  <Words>0</Words>
  <Application>Microsoft Macintosh PowerPoint</Application>
  <PresentationFormat>ワイド画面</PresentationFormat>
  <Paragraphs>0</Paragraphs>
  <Slides>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Arial</vt:lpstr>
      <vt:lpstr>JasmineUPC</vt:lpstr>
      <vt:lpstr>Raleway</vt:lpstr>
      <vt:lpstr>スクール デイズ</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sp260834</dc:creator>
  <cp:lastModifiedBy>sp260834</cp:lastModifiedBy>
  <cp:revision>2</cp:revision>
  <dcterms:created xsi:type="dcterms:W3CDTF">2026-10-21T00:33:32Z</dcterms:created>
  <dcterms:modified xsi:type="dcterms:W3CDTF">2026-10-21T01:31:18Z</dcterms:modified>
</cp:coreProperties>
</file>